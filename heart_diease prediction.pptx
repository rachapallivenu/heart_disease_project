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74" r:id="rId14"/>
    <p:sldId id="273" r:id="rId15"/>
    <p:sldId id="270" r:id="rId16"/>
    <p:sldId id="271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88927" autoAdjust="0"/>
  </p:normalViewPr>
  <p:slideViewPr>
    <p:cSldViewPr snapToGrid="0">
      <p:cViewPr>
        <p:scale>
          <a:sx n="75" d="100"/>
          <a:sy n="75" d="100"/>
        </p:scale>
        <p:origin x="90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0T01:26:19.251"/>
    </inkml:context>
    <inkml:brush xml:id="br0">
      <inkml:brushProperty name="width" value="0.3" units="cm"/>
      <inkml:brushProperty name="height" value="0.6" units="cm"/>
      <inkml:brushProperty name="color" value="#FFFCF3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0,'4'0,"11"0,6 0,6 0,1 0,1 0,0 0,-1 0,0 0,-1 0,0 0,-1 0,1 0,-1 0,0 0,0 0,0 0,-4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0T01:26:19.747"/>
    </inkml:context>
    <inkml:brush xml:id="br0">
      <inkml:brushProperty name="width" value="0.3" units="cm"/>
      <inkml:brushProperty name="height" value="0.6" units="cm"/>
      <inkml:brushProperty name="color" value="#FFFCF3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0T01:26:20.101"/>
    </inkml:context>
    <inkml:brush xml:id="br0">
      <inkml:brushProperty name="width" value="0.3" units="cm"/>
      <inkml:brushProperty name="height" value="0.6" units="cm"/>
      <inkml:brushProperty name="color" value="#FFFCF3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0T01:26:20.324"/>
    </inkml:context>
    <inkml:brush xml:id="br0">
      <inkml:brushProperty name="width" value="0.3" units="cm"/>
      <inkml:brushProperty name="height" value="0.6" units="cm"/>
      <inkml:brushProperty name="color" value="#FFFCF3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0T01:26:20.818"/>
    </inkml:context>
    <inkml:brush xml:id="br0">
      <inkml:brushProperty name="width" value="0.3" units="cm"/>
      <inkml:brushProperty name="height" value="0.6" units="cm"/>
      <inkml:brushProperty name="color" value="#FFFCF3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0T01:26:21.202"/>
    </inkml:context>
    <inkml:brush xml:id="br0">
      <inkml:brushProperty name="width" value="0.3" units="cm"/>
      <inkml:brushProperty name="height" value="0.6" units="cm"/>
      <inkml:brushProperty name="color" value="#FFFCF3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0T01:26:21.921"/>
    </inkml:context>
    <inkml:brush xml:id="br0">
      <inkml:brushProperty name="width" value="0.3" units="cm"/>
      <inkml:brushProperty name="height" value="0.6" units="cm"/>
      <inkml:brushProperty name="color" value="#FFFCF3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0,'9'0,"20"5,11 1,6-1,5 0,-2-2,-4-1,-7-1,-4 0,-4-1,-2-1,-2 1,-5 4,-2 2,1 0,-4-1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0T01:26:22.804"/>
    </inkml:context>
    <inkml:brush xml:id="br0">
      <inkml:brushProperty name="width" value="0.3" units="cm"/>
      <inkml:brushProperty name="height" value="0.6" units="cm"/>
      <inkml:brushProperty name="color" value="#FFFCF3"/>
      <inkml:brushProperty name="tip" value="rectangle"/>
      <inkml:brushProperty name="rasterOp" value="maskPen"/>
      <inkml:brushProperty name="ignorePressure" value="1"/>
    </inkml:brush>
  </inkml:definitions>
  <inkml:trace contextRef="#ctx0" brushRef="#br0">769 1,'-741'0,"714"0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01:26:43.4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369 102 24512,'196'-100'0,"-759"154"0,930-8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A7F96-FEFD-4820-B385-C35F57086F31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EB023-2E46-451F-9123-16609AB40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569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A0F1A-6AF7-8848-082D-795769BA8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11E11-0D92-E3F6-898E-BAEB625D2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22F17-ECEC-69BF-1FD9-2095375DF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F951F-2A1B-494D-A494-B67D8AC2FF8B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66559-00A9-6060-1631-DE3CD7D35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0CE14-8825-C305-A01A-4C7391EE7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53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45324-A1B0-006E-8B59-21E21FFA5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1D64F-E2E9-98DD-438A-25883D413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D78FD-13FD-29D8-0FF5-0E42E590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FF7A-1D91-4D1D-A7FA-C3FAF46D1982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DAC3B-B4BC-9C8A-8DF7-975A647C2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9D5FF-B82A-B812-B3AF-BD55FD9D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9730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CB267-8AFA-12B3-E467-07D14D93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ECE4A-F60A-0DEB-5F86-563DE082B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2E857-47D3-6EA2-C7CE-C048A92E5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11954-E936-44A9-9353-D2D4C6B75818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33B5E-1FAA-117D-7595-CA8017129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843C-9DB7-2DF3-5181-72EF17B0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93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B0753-4331-E9B4-47B3-6E62A108C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37C85-4318-E55F-92AA-41C377CF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10473-19B9-4DE1-650F-C6939217B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74871-D64F-69D2-BD52-85D1A6B42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FF7A-1D91-4D1D-A7FA-C3FAF46D1982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895FC-90E7-0FD3-8956-3E8E7235F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80389-6764-9326-7C7A-22465DF6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2087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79F9F-0173-5EFD-3518-606BC3B22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90B48-E1A3-9E49-7104-B94104298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7546B-EF0E-9B3F-B2AF-1A3CBBF84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0D4B69-CA61-B5DD-389C-AFC0B3CF34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7EC27A-7974-D08C-9914-4C5B562B29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7EC716-2568-65E9-5E67-EAF46E32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FF7A-1D91-4D1D-A7FA-C3FAF46D1982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4B1538-D3B8-F609-5A2E-36E7A07EA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E7336B-EA01-FDB8-8AE9-D4781E1BC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78755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14EF-D24C-833F-E48E-6E7635E8D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8D4BAB-8454-4D7C-C717-CFC74578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6DB56-8262-400F-A2CD-1D890574BCCA}" type="datetime1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90C891-BAC4-B925-EB79-D49B74680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05E746-CB07-BA50-C467-CF765CF1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66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010997-9CC3-47A6-5EC5-1A681178F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01B14-F759-4A79-8C2D-1590ABB40BD2}" type="datetime1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E173E4-A3C7-AED8-C26A-62BEF918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863C6-FEC2-3BBB-E692-81BBF13CD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07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8822-7392-B459-C86E-38FF1981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1F902-AD3D-C219-5716-E2E074196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48E3E3-F7BD-D3F1-7F05-B39235877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64EE9-335C-58A4-CB61-4FB6D5D7A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FF7A-1D91-4D1D-A7FA-C3FAF46D1982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2A95C-9476-1E08-88E2-B2E4EE7C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7BA97-8313-D6E1-36D3-602700B1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4672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995F-F3C5-8F4F-1EC0-4C37E306B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926A8-53DD-E5F5-A766-7C7AAF69E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2D493-478F-65F1-40D4-52DC69F9B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3FDF8-1029-26EE-0D23-96D04C2B1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8089-65E4-4A89-9058-12B39FD0C6BF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1082D-6CD3-4D31-CEA0-C4A5D556D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17321-0330-4FC9-525B-67A02F467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54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7329A-5D72-DB87-E4BD-2652DA6D2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D90BC-A98D-1D57-20B3-BD5ED8B39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3EE09-CF43-D025-1B9A-95DA4540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FF7A-1D91-4D1D-A7FA-C3FAF46D1982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B9A1F-C919-E830-C09A-B0B49B607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04703-EC19-4F58-C90C-E6BEAA511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887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11DD69-11BB-45BD-8D0B-F89171717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21718A-26DC-3312-BA18-54DE995C3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FF7E2-51BC-7CA9-D4BE-76D3D1DD4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FF7A-1D91-4D1D-A7FA-C3FAF46D1982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DF63A-AF7B-3699-6907-84B8AD1C3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BAF1-2276-D44D-9BDC-CF73476CA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9319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153AE3-DBD9-6E13-968A-583E133D5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33CC1-1101-AFEC-42E2-0F51EA8AB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8D6C6-BFFD-03E2-601B-18C491E177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BFF7A-1D91-4D1D-A7FA-C3FAF46D1982}" type="datetime1">
              <a:rPr lang="en-US" smtClean="0"/>
              <a:t>8/20/2025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0C3E2-44F0-AD4C-A2A5-CA3010B3F8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9C51C-3709-F7E8-9AE9-131A0FEA3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50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project%20-%20Copy/heart_disease_dataset.csv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3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7.xml"/><Relationship Id="rId5" Type="http://schemas.openxmlformats.org/officeDocument/2006/relationships/customXml" Target="../ink/ink2.xml"/><Relationship Id="rId15" Type="http://schemas.openxmlformats.org/officeDocument/2006/relationships/customXml" Target="../ink/ink9.xml"/><Relationship Id="rId10" Type="http://schemas.openxmlformats.org/officeDocument/2006/relationships/customXml" Target="../ink/ink6.xml"/><Relationship Id="rId4" Type="http://schemas.openxmlformats.org/officeDocument/2006/relationships/image" Target="../media/image4.png"/><Relationship Id="rId9" Type="http://schemas.openxmlformats.org/officeDocument/2006/relationships/customXml" Target="../ink/ink5.xml"/><Relationship Id="rId1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501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23B600-F5B6-91F3-DEB8-247E3B8B96CB}"/>
              </a:ext>
            </a:extLst>
          </p:cNvPr>
          <p:cNvSpPr txBox="1"/>
          <p:nvPr/>
        </p:nvSpPr>
        <p:spPr>
          <a:xfrm>
            <a:off x="307731" y="314408"/>
            <a:ext cx="1188426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                      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DEPARTMENT OF INFORMATION TECHNOLOGY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 UNIVERSITY COLLEGE OF ENGINEERING SCIENCE AND TECHNOLOGY HYDERABAD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              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JAWAHARLAL NEHRU TECHNOLOGY UNIVERSITY HYDERABAD</a:t>
            </a:r>
          </a:p>
        </p:txBody>
      </p:sp>
      <p:pic>
        <p:nvPicPr>
          <p:cNvPr id="6" name="Picture 2" descr="mUniversity | jntu">
            <a:extLst>
              <a:ext uri="{FF2B5EF4-FFF2-40B4-BE49-F238E27FC236}">
                <a16:creationId xmlns:a16="http://schemas.microsoft.com/office/drawing/2014/main" id="{8F2F821A-5D2E-882A-C3B1-ED13FA6F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28717" y="162835"/>
            <a:ext cx="1406999" cy="156503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23F40F-2005-55B0-2A40-8C74C504C462}"/>
              </a:ext>
            </a:extLst>
          </p:cNvPr>
          <p:cNvSpPr txBox="1"/>
          <p:nvPr/>
        </p:nvSpPr>
        <p:spPr>
          <a:xfrm>
            <a:off x="1178282" y="2287346"/>
            <a:ext cx="9662543" cy="257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MINI PROJECT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ON</a:t>
            </a:r>
          </a:p>
          <a:p>
            <a:pPr marL="240665" marR="601345" algn="ctr">
              <a:lnSpc>
                <a:spcPct val="150000"/>
              </a:lnSpc>
              <a:spcBef>
                <a:spcPts val="10"/>
              </a:spcBef>
              <a:buNone/>
            </a:pPr>
            <a:r>
              <a:rPr lang="en-IN" sz="2200" b="1" cap="all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Prediction of Heart Disease Using MACHINE LEARNING Algorithms</a:t>
            </a:r>
            <a:endParaRPr lang="en-IN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7CE482-B91D-E484-53A6-FDA17217D18D}"/>
              </a:ext>
            </a:extLst>
          </p:cNvPr>
          <p:cNvSpPr txBox="1"/>
          <p:nvPr/>
        </p:nvSpPr>
        <p:spPr>
          <a:xfrm>
            <a:off x="9293469" y="4858050"/>
            <a:ext cx="221566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marR="0" lvl="0" indent="0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tabLst/>
              <a:defRPr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marL="91440" marR="0" lvl="0" indent="0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tabLst/>
              <a:defRPr/>
            </a:pP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R.Venu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" marR="0" lvl="0" indent="0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tabLst/>
              <a:defRPr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24011D2515</a:t>
            </a:r>
          </a:p>
          <a:p>
            <a:pPr marL="91440" marR="0" lvl="0" indent="0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tabLst/>
              <a:defRPr/>
            </a:pP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(SE)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2AF4B6-7508-DC78-6717-254F3C3A9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412323"/>
            <a:ext cx="2743200" cy="365125"/>
          </a:xfrm>
        </p:spPr>
        <p:txBody>
          <a:bodyPr/>
          <a:lstStyle/>
          <a:p>
            <a:fld id="{4854181D-6920-4594-9A5D-6CE56DC9F8B2}" type="slidenum">
              <a:rPr lang="en-US" b="1" smtClean="0"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7837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07F17-3CEA-495E-8849-FCA10F200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041" y="696389"/>
            <a:ext cx="10901827" cy="103962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5EA1D1-4ADE-4ADB-9913-D10A7A33E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EC4B79B-5DD1-F921-8317-DA7EF136E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68" y="939138"/>
            <a:ext cx="11161222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mining is widely used to process healthcare data.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diseases are the leading cause of death globally.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identification of heart disease risk factors is essential for prevention and treatment.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 parameters such as cholesterol, blood pressure, and age are used for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lgorithms used: Decision Tree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,KNN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SVM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SVM  algorithm shows the highest precision in predicting heart disease risk.</a:t>
            </a:r>
          </a:p>
        </p:txBody>
      </p:sp>
    </p:spTree>
    <p:extLst>
      <p:ext uri="{BB962C8B-B14F-4D97-AF65-F5344CB8AC3E}">
        <p14:creationId xmlns:p14="http://schemas.microsoft.com/office/powerpoint/2010/main" val="3427298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44384-7048-214E-5D06-DD5F0BBF2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735" y="335061"/>
            <a:ext cx="8994530" cy="807508"/>
          </a:xfrm>
        </p:spPr>
        <p:txBody>
          <a:bodyPr/>
          <a:lstStyle/>
          <a:p>
            <a:pPr algn="ctr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INTRODUCTION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6B204C-9605-FFEC-C544-92C657DC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ACB4CDA-2937-ABBD-A8BA-1BE459BB4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314" y="1124449"/>
            <a:ext cx="1023537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Heart Disease Using Machine Learning Algorithms  applies data mining methods to identify individuals at risk of heart disease based on historical health data.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cardiovascular disorders remain among the top causes of mortality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healthcare to analyze digital medical records and diagnostics..</a:t>
            </a:r>
          </a:p>
          <a:p>
            <a:pPr marL="8001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SVM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(implemented in Python).</a:t>
            </a:r>
          </a:p>
          <a:p>
            <a:pPr marL="8001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 analyzed: Age, sex, blood pressure, cholesterol, ECG, etc.</a:t>
            </a:r>
          </a:p>
          <a:p>
            <a:pPr marL="8001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includes handling missing values, normalization, and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selection.</a:t>
            </a:r>
          </a:p>
          <a:p>
            <a:pPr marL="8001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outperforms  in precision and interpretability.</a:t>
            </a:r>
          </a:p>
        </p:txBody>
      </p:sp>
    </p:spTree>
    <p:extLst>
      <p:ext uri="{BB962C8B-B14F-4D97-AF65-F5344CB8AC3E}">
        <p14:creationId xmlns:p14="http://schemas.microsoft.com/office/powerpoint/2010/main" val="3952200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F079D-34B7-C04D-C5FE-3CE1BD219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8108" y="385762"/>
            <a:ext cx="8935784" cy="1325563"/>
          </a:xfrm>
        </p:spPr>
        <p:txBody>
          <a:bodyPr/>
          <a:lstStyle/>
          <a:p>
            <a:pPr algn="ctr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LITERATURE SURVEY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17C205-423E-7479-D7A2-5F4F5BFC7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B1A080-FA3F-6CB3-5293-9FB6773C6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957565"/>
              </p:ext>
            </p:extLst>
          </p:nvPr>
        </p:nvGraphicFramePr>
        <p:xfrm>
          <a:off x="1469846" y="1597025"/>
          <a:ext cx="8935784" cy="4833226"/>
        </p:xfrm>
        <a:graphic>
          <a:graphicData uri="http://schemas.openxmlformats.org/drawingml/2006/table">
            <a:tbl>
              <a:tblPr/>
              <a:tblGrid>
                <a:gridCol w="2233946">
                  <a:extLst>
                    <a:ext uri="{9D8B030D-6E8A-4147-A177-3AD203B41FA5}">
                      <a16:colId xmlns:a16="http://schemas.microsoft.com/office/drawing/2014/main" val="2324806291"/>
                    </a:ext>
                  </a:extLst>
                </a:gridCol>
                <a:gridCol w="2233946">
                  <a:extLst>
                    <a:ext uri="{9D8B030D-6E8A-4147-A177-3AD203B41FA5}">
                      <a16:colId xmlns:a16="http://schemas.microsoft.com/office/drawing/2014/main" val="3021587914"/>
                    </a:ext>
                  </a:extLst>
                </a:gridCol>
                <a:gridCol w="2233946">
                  <a:extLst>
                    <a:ext uri="{9D8B030D-6E8A-4147-A177-3AD203B41FA5}">
                      <a16:colId xmlns:a16="http://schemas.microsoft.com/office/drawing/2014/main" val="831099941"/>
                    </a:ext>
                  </a:extLst>
                </a:gridCol>
                <a:gridCol w="2233946">
                  <a:extLst>
                    <a:ext uri="{9D8B030D-6E8A-4147-A177-3AD203B41FA5}">
                      <a16:colId xmlns:a16="http://schemas.microsoft.com/office/drawing/2014/main" val="3780604966"/>
                    </a:ext>
                  </a:extLst>
                </a:gridCol>
              </a:tblGrid>
              <a:tr h="706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237879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N. Desai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Decision Tree and Naive Bayes for heart disease prediction.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049310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Verma and Yadav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Compared ML algorithms on UCI dataset for predicting cardiovascular risk.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029281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H. B. Pate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SVM and KNN models for clinical heart data classification.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14451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and Reddy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-based app for heart disease detection using Python.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0872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36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325B5-33E4-F6F4-7EFB-7B9215ED1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338" y="314609"/>
            <a:ext cx="9486900" cy="1009040"/>
          </a:xfrm>
        </p:spPr>
        <p:txBody>
          <a:bodyPr/>
          <a:lstStyle/>
          <a:p>
            <a:pPr algn="ctr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EXISTING WORK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74C4D-FEEC-63D0-71CD-99CDB102A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213" y="1217865"/>
            <a:ext cx="5157787" cy="571696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ADVANTAGES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CFB5B-278B-D4BF-1BC0-5A273FE828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76006" y="1105983"/>
            <a:ext cx="5183188" cy="66172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DISADVANTAGES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A62CA-1CFF-644D-D92A-BCB7B574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8638" y="6360828"/>
            <a:ext cx="2743200" cy="365125"/>
          </a:xfrm>
        </p:spPr>
        <p:txBody>
          <a:bodyPr/>
          <a:lstStyle/>
          <a:p>
            <a:fld id="{4854181D-6920-4594-9A5D-6CE56DC9F8B2}" type="slidenum">
              <a:rPr lang="en-US" b="1" smtClean="0"/>
              <a:t>5</a:t>
            </a:fld>
            <a:endParaRPr lang="en-US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7A8DBC-E47F-8D5F-9855-02EB51E91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346868"/>
              </p:ext>
            </p:extLst>
          </p:nvPr>
        </p:nvGraphicFramePr>
        <p:xfrm>
          <a:off x="764930" y="1789561"/>
          <a:ext cx="10911254" cy="4875156"/>
        </p:xfrm>
        <a:graphic>
          <a:graphicData uri="http://schemas.openxmlformats.org/drawingml/2006/table">
            <a:tbl>
              <a:tblPr/>
              <a:tblGrid>
                <a:gridCol w="5455627">
                  <a:extLst>
                    <a:ext uri="{9D8B030D-6E8A-4147-A177-3AD203B41FA5}">
                      <a16:colId xmlns:a16="http://schemas.microsoft.com/office/drawing/2014/main" val="3691715259"/>
                    </a:ext>
                  </a:extLst>
                </a:gridCol>
                <a:gridCol w="5455627">
                  <a:extLst>
                    <a:ext uri="{9D8B030D-6E8A-4147-A177-3AD203B41FA5}">
                      <a16:colId xmlns:a16="http://schemas.microsoft.com/office/drawing/2014/main" val="37003522"/>
                    </a:ext>
                  </a:extLst>
                </a:gridCol>
              </a:tblGrid>
              <a:tr h="1034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standard tools like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WEKA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algorithms (Naive Bayes, Decision Trees, Neural Networks).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Relies on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interpretation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increasing chances of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error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920256"/>
                  </a:ext>
                </a:extLst>
              </a:tr>
              <a:tr h="1034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Capable of processing clinical features like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age, BP, cholesterol, ECG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etc.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ability to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early-stage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heart disease accurately.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611740"/>
                  </a:ext>
                </a:extLst>
              </a:tr>
              <a:tr h="713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Offers </a:t>
                      </a: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prediction accuracy</a:t>
                      </a: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identifying heart-related conditions.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 are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with no ability to learn from new medical data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259706"/>
                  </a:ext>
                </a:extLst>
              </a:tr>
              <a:tr h="713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to implement and understand using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predefined models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interactive interfaces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doctors or patients.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162269"/>
                  </a:ext>
                </a:extLst>
              </a:tr>
              <a:tr h="103426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provide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explanations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 intuitive decision paths for practitioners.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156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8456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E412C-41AB-0DB6-993D-CFC70E8B9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8548" y="211660"/>
            <a:ext cx="3600796" cy="785952"/>
          </a:xfrm>
        </p:spPr>
        <p:txBody>
          <a:bodyPr/>
          <a:lstStyle/>
          <a:p>
            <a:pPr algn="ctr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PROPOSED WORK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1BD6A2-1D37-F11C-DC87-4BAB8C9B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56EC62-38FE-DF22-5284-764EA3766471}"/>
              </a:ext>
            </a:extLst>
          </p:cNvPr>
          <p:cNvSpPr txBox="1"/>
          <p:nvPr/>
        </p:nvSpPr>
        <p:spPr>
          <a:xfrm>
            <a:off x="756139" y="671798"/>
            <a:ext cx="11201399" cy="611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multiple machine learning models: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(KNN)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data preprocessing steps (Handling missing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valuesNormalization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categorical features (e.g., chest pain type, ECG results)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include medical parameters such as age, sex, BP, cholesterol, ECG results, etc.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are trained and evaluated using metrics like accuracy and precision.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prediction results with visual insights to assist healthcare professionals.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interactive user interface via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easy data entry and result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778972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68B7-4FA9-542A-A46B-D523026CB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81" y="576140"/>
            <a:ext cx="10515600" cy="1325563"/>
          </a:xfrm>
        </p:spPr>
        <p:txBody>
          <a:bodyPr/>
          <a:lstStyle/>
          <a:p>
            <a:pPr algn="ctr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PROPOSED WORK MODULES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5D6158-FD30-E14C-2377-83B863CD9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7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6DEBEB-943E-B884-AFCA-253C222340C5}"/>
              </a:ext>
            </a:extLst>
          </p:cNvPr>
          <p:cNvSpPr txBox="1"/>
          <p:nvPr/>
        </p:nvSpPr>
        <p:spPr>
          <a:xfrm>
            <a:off x="945037" y="1901703"/>
            <a:ext cx="6094428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Module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Module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Module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Module 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358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33E8249-8F6E-0F2E-B57D-FDFA17BC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39" y="310327"/>
            <a:ext cx="10515600" cy="637702"/>
          </a:xfrm>
        </p:spPr>
        <p:txBody>
          <a:bodyPr/>
          <a:lstStyle/>
          <a:p>
            <a:pPr algn="ctr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DATASET DESCRIPTION</a:t>
            </a: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6BE584-6A0A-7EAC-66F5-036543FA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898DB3-613D-6CB4-991E-3BBB03E2D074}"/>
              </a:ext>
            </a:extLst>
          </p:cNvPr>
          <p:cNvSpPr txBox="1"/>
          <p:nvPr/>
        </p:nvSpPr>
        <p:spPr>
          <a:xfrm>
            <a:off x="878876" y="1236520"/>
            <a:ext cx="5135064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4945" marR="554355" algn="just">
              <a:lnSpc>
                <a:spcPct val="150000"/>
              </a:lnSpc>
              <a:spcBef>
                <a:spcPts val="685"/>
              </a:spcBef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heart_disease_dataset.csv dataset, sourced from </a:t>
            </a:r>
            <a:r>
              <a:rPr lang="en-US" sz="2000" u="sng" dirty="0">
                <a:latin typeface="Times New Roman" panose="02020603050405020304" pitchFamily="18" charset="0"/>
                <a:ea typeface="Times New Roman" panose="02020603050405020304" pitchFamily="18" charset="0"/>
                <a:hlinkClick r:id="rId2" action="ppaction://hlinkfile"/>
              </a:rPr>
              <a:t>Kaggle.com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contains 12 attributes and a label indicating the prediction is negative (0) or positive (1). The dataset initially comprised 2515 observations, which were reduced to 1314 after removing null values. Among these, 80% of the dataset represents for training, while the remaining 20%  represents testing.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708582-A47E-EDD8-FC32-4736713F4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224" y="967834"/>
            <a:ext cx="5766304" cy="536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224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0E435-1A29-25F5-9E9D-AA3339479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120" y="123385"/>
            <a:ext cx="10515600" cy="677893"/>
          </a:xfrm>
        </p:spPr>
        <p:txBody>
          <a:bodyPr/>
          <a:lstStyle/>
          <a:p>
            <a:pPr algn="ctr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PROPOSED ARCHITECTURE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5E49AC-D3E8-D417-99C7-C4F85800A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040" y="6398238"/>
            <a:ext cx="389792" cy="365125"/>
          </a:xfrm>
        </p:spPr>
        <p:txBody>
          <a:bodyPr/>
          <a:lstStyle/>
          <a:p>
            <a:fld id="{4854181D-6920-4594-9A5D-6CE56DC9F8B2}" type="slidenum">
              <a:rPr lang="en-US" smtClean="0"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62B184-5ACB-EB33-FF81-B41EF58FC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643" y="962519"/>
            <a:ext cx="5934802" cy="54357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64E59BA-BC5B-3132-89C6-10A99B962347}"/>
              </a:ext>
            </a:extLst>
          </p:cNvPr>
          <p:cNvSpPr/>
          <p:nvPr/>
        </p:nvSpPr>
        <p:spPr>
          <a:xfrm>
            <a:off x="5571240" y="962519"/>
            <a:ext cx="6274929" cy="54224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E139386-0B26-6228-4E78-2249D9658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392" y="1422542"/>
            <a:ext cx="4781253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7350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the prediction process.</a:t>
            </a:r>
          </a:p>
          <a:p>
            <a:pPr marL="87313" lvl="0" indent="-87313" algn="just" defTabSz="73501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heart disease dataset with clinical         features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313" marR="0" lvl="0" indent="-87313" algn="just" defTabSz="7350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3762375" algn="l"/>
              </a:tabLs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importantvariables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age,BP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cholesterol,                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7313" marR="0" lvl="0" indent="-87313" algn="just" defTabSz="7350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 data (cleaning, normalization, encoding).</a:t>
            </a:r>
          </a:p>
          <a:p>
            <a:pPr marL="0" marR="0" lvl="0" indent="0" algn="just" defTabSz="7350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 data into training and testing sets.</a:t>
            </a:r>
          </a:p>
          <a:p>
            <a:pPr marL="87313" marR="0" lvl="0" indent="-87313" algn="just" defTabSz="7350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models: SVM, KNN, and Random   Forest.</a:t>
            </a:r>
          </a:p>
          <a:p>
            <a:pPr marL="0" marR="0" lvl="0" indent="0" algn="just" defTabSz="7350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classifiers on test data.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8C975B-7839-67DF-D888-6D37468E28CB}"/>
              </a:ext>
            </a:extLst>
          </p:cNvPr>
          <p:cNvSpPr txBox="1"/>
          <p:nvPr/>
        </p:nvSpPr>
        <p:spPr>
          <a:xfrm>
            <a:off x="7603589" y="6385001"/>
            <a:ext cx="2274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proposed architecture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1911D9E-3D4F-45DF-61CF-57344A58ABD1}"/>
                  </a:ext>
                </a:extLst>
              </p14:cNvPr>
              <p14:cNvContentPartPr/>
              <p14:nvPr/>
            </p14:nvContentPartPr>
            <p14:xfrm>
              <a:off x="6909781" y="5580438"/>
              <a:ext cx="15948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1911D9E-3D4F-45DF-61CF-57344A58AB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56141" y="5472438"/>
                <a:ext cx="267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C28EBCB-9AD6-A3CE-6C7C-3EF5D180B762}"/>
                  </a:ext>
                </a:extLst>
              </p14:cNvPr>
              <p14:cNvContentPartPr/>
              <p14:nvPr/>
            </p14:nvContentPartPr>
            <p14:xfrm>
              <a:off x="7079341" y="5580438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C28EBCB-9AD6-A3CE-6C7C-3EF5D180B7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25701" y="547243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02F37F3-0E4F-782D-A45E-59C52F8E376A}"/>
                  </a:ext>
                </a:extLst>
              </p14:cNvPr>
              <p14:cNvContentPartPr/>
              <p14:nvPr/>
            </p14:nvContentPartPr>
            <p14:xfrm>
              <a:off x="7079341" y="5580438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02F37F3-0E4F-782D-A45E-59C52F8E376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25701" y="547243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2FEFBA1-2FEF-98DE-FFA6-D78E318B6836}"/>
                  </a:ext>
                </a:extLst>
              </p14:cNvPr>
              <p14:cNvContentPartPr/>
              <p14:nvPr/>
            </p14:nvContentPartPr>
            <p14:xfrm>
              <a:off x="7079341" y="5580438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2FEFBA1-2FEF-98DE-FFA6-D78E318B683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25701" y="547243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3CD182E-349B-B420-D9B7-7AA5E18DFD5B}"/>
                  </a:ext>
                </a:extLst>
              </p14:cNvPr>
              <p14:cNvContentPartPr/>
              <p14:nvPr/>
            </p14:nvContentPartPr>
            <p14:xfrm>
              <a:off x="7079341" y="5580438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3CD182E-349B-B420-D9B7-7AA5E18DFD5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25701" y="547243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39223F5-1E4D-F74B-06D6-C8E4844661C0}"/>
                  </a:ext>
                </a:extLst>
              </p14:cNvPr>
              <p14:cNvContentPartPr/>
              <p14:nvPr/>
            </p14:nvContentPartPr>
            <p14:xfrm>
              <a:off x="7079341" y="5580438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39223F5-1E4D-F74B-06D6-C8E4844661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25701" y="547243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D831902-C384-AC1E-1861-1D908775CBC4}"/>
                  </a:ext>
                </a:extLst>
              </p14:cNvPr>
              <p14:cNvContentPartPr/>
              <p14:nvPr/>
            </p14:nvContentPartPr>
            <p14:xfrm>
              <a:off x="7079341" y="5580438"/>
              <a:ext cx="180720" cy="172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D831902-C384-AC1E-1861-1D908775CBC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25701" y="5472438"/>
                <a:ext cx="2883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A8E6A12-3E85-45BF-B66B-2763512398BA}"/>
                  </a:ext>
                </a:extLst>
              </p14:cNvPr>
              <p14:cNvContentPartPr/>
              <p14:nvPr/>
            </p14:nvContentPartPr>
            <p14:xfrm>
              <a:off x="6909781" y="5563158"/>
              <a:ext cx="27720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A8E6A12-3E85-45BF-B66B-2763512398B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56141" y="5455518"/>
                <a:ext cx="384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464BFE2-B9F2-2778-D58F-D0D4A41036D6}"/>
                  </a:ext>
                </a:extLst>
              </p14:cNvPr>
              <p14:cNvContentPartPr/>
              <p14:nvPr/>
            </p14:nvContentPartPr>
            <p14:xfrm>
              <a:off x="6903661" y="5524638"/>
              <a:ext cx="203040" cy="36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464BFE2-B9F2-2778-D58F-D0D4A41036D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897541" y="5518518"/>
                <a:ext cx="215280" cy="4860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794F4016-88A6-F378-0C3C-A33B1EB727FD}"/>
              </a:ext>
            </a:extLst>
          </p:cNvPr>
          <p:cNvSpPr/>
          <p:nvPr/>
        </p:nvSpPr>
        <p:spPr>
          <a:xfrm>
            <a:off x="6831329" y="5511849"/>
            <a:ext cx="817245" cy="11225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49A730-C53D-06AF-1DD4-16249D7A315D}"/>
              </a:ext>
            </a:extLst>
          </p:cNvPr>
          <p:cNvSpPr/>
          <p:nvPr/>
        </p:nvSpPr>
        <p:spPr>
          <a:xfrm>
            <a:off x="6503506" y="5673090"/>
            <a:ext cx="537539" cy="14179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Tree</a:t>
            </a:r>
            <a:endParaRPr lang="en-IN" sz="1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065CB3-26E1-F788-8F5C-F5AD37EF4649}"/>
              </a:ext>
            </a:extLst>
          </p:cNvPr>
          <p:cNvCxnSpPr>
            <a:cxnSpLocks/>
          </p:cNvCxnSpPr>
          <p:nvPr/>
        </p:nvCxnSpPr>
        <p:spPr>
          <a:xfrm>
            <a:off x="7585710" y="5436870"/>
            <a:ext cx="0" cy="27432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2A14DFF-62BC-3D50-CA77-F7ADDE108817}"/>
              </a:ext>
            </a:extLst>
          </p:cNvPr>
          <p:cNvCxnSpPr/>
          <p:nvPr/>
        </p:nvCxnSpPr>
        <p:spPr>
          <a:xfrm>
            <a:off x="7603589" y="5436870"/>
            <a:ext cx="0" cy="2533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7AA89CE-758C-870C-1AC2-6DDCDBB9D864}"/>
              </a:ext>
            </a:extLst>
          </p:cNvPr>
          <p:cNvCxnSpPr/>
          <p:nvPr/>
        </p:nvCxnSpPr>
        <p:spPr>
          <a:xfrm>
            <a:off x="7566660" y="5436870"/>
            <a:ext cx="0" cy="220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480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851FD-1C42-0DC7-3DB5-D2D95E133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08698"/>
          </a:xfrm>
        </p:spPr>
        <p:txBody>
          <a:bodyPr/>
          <a:lstStyle/>
          <a:p>
            <a:pPr algn="ctr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PROPOSED ALGORITHMS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7556CB-9FCD-EE9A-A16E-C4E148ABF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10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53FB4B-48AF-8CD4-8681-BC2618715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31304"/>
            <a:ext cx="8751371" cy="6212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itchFamily="18" charset="0"/>
                <a:cs typeface="Times New Roman" pitchFamily="18" charset="0"/>
              </a:rPr>
              <a:t>ALGORITHMS: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Decision Tree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Score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30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46AD-CFD6-06F7-68BE-61AA85A33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871" y="787913"/>
            <a:ext cx="10515600" cy="1325563"/>
          </a:xfrm>
        </p:spPr>
        <p:txBody>
          <a:bodyPr/>
          <a:lstStyle/>
          <a:p>
            <a:pPr algn="ctr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EXPERIMENTAL RESULTS &amp; ANALYSIS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0E4552-DC15-890C-C5C2-00984FD50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750A45-2603-B690-8619-C1A8CE1A7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014285"/>
              </p:ext>
            </p:extLst>
          </p:nvPr>
        </p:nvGraphicFramePr>
        <p:xfrm>
          <a:off x="2409279" y="3429000"/>
          <a:ext cx="5801033" cy="2209581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094751">
                  <a:extLst>
                    <a:ext uri="{9D8B030D-6E8A-4147-A177-3AD203B41FA5}">
                      <a16:colId xmlns:a16="http://schemas.microsoft.com/office/drawing/2014/main" val="619614632"/>
                    </a:ext>
                  </a:extLst>
                </a:gridCol>
                <a:gridCol w="1094751">
                  <a:extLst>
                    <a:ext uri="{9D8B030D-6E8A-4147-A177-3AD203B41FA5}">
                      <a16:colId xmlns:a16="http://schemas.microsoft.com/office/drawing/2014/main" val="85419792"/>
                    </a:ext>
                  </a:extLst>
                </a:gridCol>
                <a:gridCol w="777135">
                  <a:extLst>
                    <a:ext uri="{9D8B030D-6E8A-4147-A177-3AD203B41FA5}">
                      <a16:colId xmlns:a16="http://schemas.microsoft.com/office/drawing/2014/main" val="3341104243"/>
                    </a:ext>
                  </a:extLst>
                </a:gridCol>
                <a:gridCol w="1417198">
                  <a:extLst>
                    <a:ext uri="{9D8B030D-6E8A-4147-A177-3AD203B41FA5}">
                      <a16:colId xmlns:a16="http://schemas.microsoft.com/office/drawing/2014/main" val="3494931953"/>
                    </a:ext>
                  </a:extLst>
                </a:gridCol>
                <a:gridCol w="1417198">
                  <a:extLst>
                    <a:ext uri="{9D8B030D-6E8A-4147-A177-3AD203B41FA5}">
                      <a16:colId xmlns:a16="http://schemas.microsoft.com/office/drawing/2014/main" val="1304604649"/>
                    </a:ext>
                  </a:extLst>
                </a:gridCol>
              </a:tblGrid>
              <a:tr h="443277">
                <a:tc>
                  <a:txBody>
                    <a:bodyPr/>
                    <a:lstStyle/>
                    <a:p>
                      <a:pPr marL="190500">
                        <a:lnSpc>
                          <a:spcPts val="1375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ts val="1375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375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375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400" b="1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375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400" b="1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260765"/>
                  </a:ext>
                </a:extLst>
              </a:tr>
              <a:tr h="441333">
                <a:tc>
                  <a:txBody>
                    <a:bodyPr/>
                    <a:lstStyle/>
                    <a:p>
                      <a:pPr marL="190500">
                        <a:lnSpc>
                          <a:spcPts val="1375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ts val="1375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4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375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375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4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375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4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245304"/>
                  </a:ext>
                </a:extLst>
              </a:tr>
              <a:tr h="442305">
                <a:tc>
                  <a:txBody>
                    <a:bodyPr/>
                    <a:lstStyle/>
                    <a:p>
                      <a:pPr marL="190500">
                        <a:lnSpc>
                          <a:spcPts val="1375"/>
                        </a:lnSpc>
                        <a:spcBef>
                          <a:spcPts val="75"/>
                        </a:spcBef>
                        <a:buNone/>
                      </a:pPr>
                      <a:r>
                        <a:rPr lang="en-US" sz="14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ts val="1375"/>
                        </a:lnSpc>
                        <a:spcBef>
                          <a:spcPts val="75"/>
                        </a:spcBef>
                        <a:buNone/>
                      </a:pP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375"/>
                        </a:lnSpc>
                        <a:spcBef>
                          <a:spcPts val="75"/>
                        </a:spcBef>
                        <a:buNone/>
                      </a:pP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375"/>
                        </a:lnSpc>
                        <a:spcBef>
                          <a:spcPts val="75"/>
                        </a:spcBef>
                        <a:buNone/>
                      </a:pPr>
                      <a:r>
                        <a:rPr lang="en-US" sz="14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375"/>
                        </a:lnSpc>
                        <a:spcBef>
                          <a:spcPts val="75"/>
                        </a:spcBef>
                        <a:buNone/>
                      </a:pPr>
                      <a:r>
                        <a:rPr lang="en-US" sz="14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725714"/>
                  </a:ext>
                </a:extLst>
              </a:tr>
              <a:tr h="442305">
                <a:tc>
                  <a:txBody>
                    <a:bodyPr/>
                    <a:lstStyle/>
                    <a:p>
                      <a:pPr marL="190500">
                        <a:lnSpc>
                          <a:spcPts val="1375"/>
                        </a:lnSpc>
                        <a:spcBef>
                          <a:spcPts val="75"/>
                        </a:spcBef>
                        <a:buNone/>
                      </a:pPr>
                      <a:r>
                        <a:rPr lang="en-US" sz="14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ts val="1375"/>
                        </a:lnSpc>
                        <a:spcBef>
                          <a:spcPts val="75"/>
                        </a:spcBef>
                        <a:buNone/>
                      </a:pP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375"/>
                        </a:lnSpc>
                        <a:spcBef>
                          <a:spcPts val="75"/>
                        </a:spcBef>
                        <a:buNone/>
                      </a:pPr>
                      <a:r>
                        <a:rPr lang="en-US" sz="14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375"/>
                        </a:lnSpc>
                        <a:spcBef>
                          <a:spcPts val="75"/>
                        </a:spcBef>
                        <a:buNone/>
                      </a:pP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375"/>
                        </a:lnSpc>
                        <a:spcBef>
                          <a:spcPts val="75"/>
                        </a:spcBef>
                        <a:buNone/>
                      </a:pPr>
                      <a:r>
                        <a:rPr lang="en-US" sz="14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104545"/>
                  </a:ext>
                </a:extLst>
              </a:tr>
              <a:tr h="440361">
                <a:tc>
                  <a:txBody>
                    <a:bodyPr/>
                    <a:lstStyle/>
                    <a:p>
                      <a:pPr marL="190500">
                        <a:lnSpc>
                          <a:spcPts val="1375"/>
                        </a:lnSpc>
                        <a:spcBef>
                          <a:spcPts val="75"/>
                        </a:spcBef>
                        <a:buNone/>
                      </a:pPr>
                      <a:r>
                        <a:rPr lang="en-US" sz="14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ts val="1375"/>
                        </a:lnSpc>
                        <a:spcBef>
                          <a:spcPts val="75"/>
                        </a:spcBef>
                        <a:buNone/>
                      </a:pP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375"/>
                        </a:lnSpc>
                        <a:spcBef>
                          <a:spcPts val="75"/>
                        </a:spcBef>
                        <a:buNone/>
                      </a:pP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375"/>
                        </a:lnSpc>
                        <a:spcBef>
                          <a:spcPts val="75"/>
                        </a:spcBef>
                        <a:buNone/>
                      </a:pP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375"/>
                        </a:lnSpc>
                        <a:spcBef>
                          <a:spcPts val="75"/>
                        </a:spcBef>
                        <a:buNone/>
                      </a:pP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92057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46C3ACC-2D2F-6C33-ABB2-08BA6E1DAE50}"/>
              </a:ext>
            </a:extLst>
          </p:cNvPr>
          <p:cNvSpPr txBox="1"/>
          <p:nvPr/>
        </p:nvSpPr>
        <p:spPr>
          <a:xfrm>
            <a:off x="907026" y="2288143"/>
            <a:ext cx="90751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models (Random Forest, SVM, KNN) we are trained on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preprocessed heart disease dataset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987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DC617A-8C78-C44E-BFDA-37465F64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F401F4-BDA4-CF37-CD53-572F8577D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609" y="668216"/>
            <a:ext cx="10070122" cy="50509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4ADFBD-99CD-6290-760A-D538058FB7A6}"/>
              </a:ext>
            </a:extLst>
          </p:cNvPr>
          <p:cNvSpPr txBox="1"/>
          <p:nvPr/>
        </p:nvSpPr>
        <p:spPr>
          <a:xfrm>
            <a:off x="3224579" y="5771813"/>
            <a:ext cx="60974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home page(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Heart disease prediction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IN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F90E43-4FDB-54C9-F5C7-0F935DA0E5C0}"/>
              </a:ext>
            </a:extLst>
          </p:cNvPr>
          <p:cNvSpPr/>
          <p:nvPr/>
        </p:nvSpPr>
        <p:spPr>
          <a:xfrm>
            <a:off x="905608" y="668215"/>
            <a:ext cx="10093569" cy="5029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527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8E00BC-4578-88A6-F1F0-417DEAD91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795C86-49ED-29A4-0016-90BB9CC81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06" y="412955"/>
            <a:ext cx="10562871" cy="49001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4CD8CE-26D9-D423-07B6-7E566A7756A4}"/>
              </a:ext>
            </a:extLst>
          </p:cNvPr>
          <p:cNvSpPr txBox="1"/>
          <p:nvPr/>
        </p:nvSpPr>
        <p:spPr>
          <a:xfrm>
            <a:off x="1274884" y="5344894"/>
            <a:ext cx="85395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predicted output  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0FC8E-51A4-3098-47E0-60C95827730E}"/>
              </a:ext>
            </a:extLst>
          </p:cNvPr>
          <p:cNvSpPr txBox="1"/>
          <p:nvPr/>
        </p:nvSpPr>
        <p:spPr>
          <a:xfrm>
            <a:off x="961294" y="5710019"/>
            <a:ext cx="105126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This is a </a:t>
            </a:r>
            <a:r>
              <a:rPr lang="en-US" dirty="0" err="1"/>
              <a:t>Streamlit</a:t>
            </a:r>
            <a:r>
              <a:rPr lang="en-US" dirty="0"/>
              <a:t>-based Heart Disease Prediction app where users input health data and get an instant risk prediction and Recommendations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9D0C1C-4E94-5F7C-91D0-2C36B11AE7A9}"/>
              </a:ext>
            </a:extLst>
          </p:cNvPr>
          <p:cNvSpPr/>
          <p:nvPr/>
        </p:nvSpPr>
        <p:spPr>
          <a:xfrm>
            <a:off x="773723" y="342900"/>
            <a:ext cx="10700239" cy="50019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927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B04D17-DCEA-1160-ED45-AEC8C8856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19D0A5-B53B-2705-84F4-54D806251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755" y="468912"/>
            <a:ext cx="9056077" cy="46545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7A4C9C-621B-21D3-4560-BF8FFB486CB9}"/>
              </a:ext>
            </a:extLst>
          </p:cNvPr>
          <p:cNvSpPr txBox="1"/>
          <p:nvPr/>
        </p:nvSpPr>
        <p:spPr>
          <a:xfrm>
            <a:off x="1195756" y="5416763"/>
            <a:ext cx="9442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shows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values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and F1-Score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proving to be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performing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heart disease prediction.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1E791E-69A4-DADA-D316-E393101E7673}"/>
              </a:ext>
            </a:extLst>
          </p:cNvPr>
          <p:cNvSpPr txBox="1"/>
          <p:nvPr/>
        </p:nvSpPr>
        <p:spPr>
          <a:xfrm>
            <a:off x="4024679" y="5059904"/>
            <a:ext cx="60974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SVM vs KNN vs Decision Tree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C32CF-554F-337B-2BED-B3D5867DD5D0}"/>
              </a:ext>
            </a:extLst>
          </p:cNvPr>
          <p:cNvSpPr/>
          <p:nvPr/>
        </p:nvSpPr>
        <p:spPr>
          <a:xfrm>
            <a:off x="1195755" y="468912"/>
            <a:ext cx="9442937" cy="45909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497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7D4879-24F2-06E3-BADA-E9BAA6D8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1DD857-C40C-D0BA-AD91-3237DCDB4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365" y="677008"/>
            <a:ext cx="9979270" cy="40175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79793DA-024B-1739-472E-3B9C3612DF92}"/>
              </a:ext>
            </a:extLst>
          </p:cNvPr>
          <p:cNvSpPr/>
          <p:nvPr/>
        </p:nvSpPr>
        <p:spPr>
          <a:xfrm>
            <a:off x="984738" y="571500"/>
            <a:ext cx="10251831" cy="47126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DD747A-CA66-7882-F3EA-940121C6F1F8}"/>
              </a:ext>
            </a:extLst>
          </p:cNvPr>
          <p:cNvSpPr txBox="1"/>
          <p:nvPr/>
        </p:nvSpPr>
        <p:spPr>
          <a:xfrm>
            <a:off x="984738" y="5450931"/>
            <a:ext cx="103690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compares the performance of two machine learning models —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prediction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confusion matrices and accuracy scores.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D2BE21-8B78-7C4B-BEE2-E0BA0BF7147D}"/>
              </a:ext>
            </a:extLst>
          </p:cNvPr>
          <p:cNvSpPr txBox="1"/>
          <p:nvPr/>
        </p:nvSpPr>
        <p:spPr>
          <a:xfrm>
            <a:off x="2215299" y="4914845"/>
            <a:ext cx="76804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Confusion Matrix of Decision Tree and KNN</a:t>
            </a:r>
          </a:p>
        </p:txBody>
      </p:sp>
    </p:spTree>
    <p:extLst>
      <p:ext uri="{BB962C8B-B14F-4D97-AF65-F5344CB8AC3E}">
        <p14:creationId xmlns:p14="http://schemas.microsoft.com/office/powerpoint/2010/main" val="1540796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68C522-5BCF-4046-87E4-0B0181D7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16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692A42-7D46-EC95-E5AF-43AA0B0B1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32" y="594029"/>
            <a:ext cx="9961684" cy="44775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3DF8A3-3BE0-5E8C-E69B-986CDBE662DD}"/>
              </a:ext>
            </a:extLst>
          </p:cNvPr>
          <p:cNvSpPr txBox="1"/>
          <p:nvPr/>
        </p:nvSpPr>
        <p:spPr>
          <a:xfrm>
            <a:off x="1028700" y="5464663"/>
            <a:ext cx="101551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demonstrates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accuracy and recall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reliable 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early and accurate heart disease detection in this study.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6D7374-CDB1-8B9A-186D-B2270054D087}"/>
              </a:ext>
            </a:extLst>
          </p:cNvPr>
          <p:cNvSpPr/>
          <p:nvPr/>
        </p:nvSpPr>
        <p:spPr>
          <a:xfrm>
            <a:off x="1028700" y="594029"/>
            <a:ext cx="10040816" cy="48706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C85B8-E4A4-CD52-F469-28A06AB19E85}"/>
              </a:ext>
            </a:extLst>
          </p:cNvPr>
          <p:cNvSpPr txBox="1"/>
          <p:nvPr/>
        </p:nvSpPr>
        <p:spPr>
          <a:xfrm>
            <a:off x="2924667" y="5056232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Confusion Matrix of Best Model SVM</a:t>
            </a:r>
          </a:p>
        </p:txBody>
      </p:sp>
    </p:spTree>
    <p:extLst>
      <p:ext uri="{BB962C8B-B14F-4D97-AF65-F5344CB8AC3E}">
        <p14:creationId xmlns:p14="http://schemas.microsoft.com/office/powerpoint/2010/main" val="1257965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2137-56E1-5B94-A31B-8F95838F7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711"/>
            <a:ext cx="10515600" cy="1325563"/>
          </a:xfrm>
        </p:spPr>
        <p:txBody>
          <a:bodyPr/>
          <a:lstStyle/>
          <a:p>
            <a:pPr algn="ctr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CONCLUSION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13DD75-A30C-3074-3211-001EC1221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CCC3C8-6512-BFD5-EA3A-14A417CA396B}"/>
              </a:ext>
            </a:extLst>
          </p:cNvPr>
          <p:cNvSpPr txBox="1"/>
          <p:nvPr/>
        </p:nvSpPr>
        <p:spPr>
          <a:xfrm>
            <a:off x="1103577" y="1341650"/>
            <a:ext cx="923249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evaluated using key metrics: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and F1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project, a user-friendly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successfully developed for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heart disease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machine learning algorithms. Leveraging the power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performed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implemented models —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were trained on a comprehensive healthcare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enables users, including healthcare professionals, to input patient data and receive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instant, reliable predictions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With its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interface and visualization capabilities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tool enhances decision-making and supports early detection and prevention of heart disease.</a:t>
            </a:r>
          </a:p>
        </p:txBody>
      </p:sp>
    </p:spTree>
    <p:extLst>
      <p:ext uri="{BB962C8B-B14F-4D97-AF65-F5344CB8AC3E}">
        <p14:creationId xmlns:p14="http://schemas.microsoft.com/office/powerpoint/2010/main" val="713405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8BBD1-89CF-9BE6-BF15-16249F5F0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7152"/>
          </a:xfrm>
        </p:spPr>
        <p:txBody>
          <a:bodyPr/>
          <a:lstStyle/>
          <a:p>
            <a:pPr algn="ctr">
              <a:spcBef>
                <a:spcPts val="600"/>
              </a:spcBef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REFERENCES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8CE675-25FF-6B10-8D0A-C96BC18D1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1EEA0-936F-2EE1-64F4-DD062FF2E228}"/>
              </a:ext>
            </a:extLst>
          </p:cNvPr>
          <p:cNvSpPr txBox="1"/>
          <p:nvPr/>
        </p:nvSpPr>
        <p:spPr>
          <a:xfrm>
            <a:off x="838200" y="1229014"/>
            <a:ext cx="10156722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95630" marR="554355" indent="-342900" algn="just">
              <a:lnSpc>
                <a:spcPct val="150000"/>
              </a:lnSpc>
              <a:buFont typeface="+mj-lt"/>
              <a:buAutoNum type="arabicPeriod"/>
              <a:tabLst>
                <a:tab pos="480060" algn="l"/>
                <a:tab pos="481330" algn="l"/>
              </a:tabLst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 Patel, R. Sharma, and M. Kumar, “Heart Disease Prediction Using Machine Learning Algorithms: A Comparative Study,” </a:t>
            </a:r>
            <a:r>
              <a:rPr lang="en-IN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IEEE Access</a:t>
            </a: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10, pp. 98534–98545, 2022, </a:t>
            </a:r>
            <a:r>
              <a:rPr lang="en-IN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10.1109/ACCESS.2022.3198571.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95630" marR="554355" indent="-342900" algn="just">
              <a:lnSpc>
                <a:spcPct val="150000"/>
              </a:lnSpc>
              <a:buFont typeface="+mj-lt"/>
              <a:buAutoNum type="arabicPeriod"/>
              <a:tabLst>
                <a:tab pos="480060" algn="l"/>
                <a:tab pos="481330" algn="l"/>
              </a:tabLst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S. Verma, N. Gupta, and A. Yadav, “Early Detection of Cardiovascular Diseases Using Decision Tree and KNN,” </a:t>
            </a:r>
            <a:r>
              <a:rPr lang="en-IN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International Journal of Advanced Computer Science and Applications (IJACSA)</a:t>
            </a: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13, no. 2, pp. 65–72, 2022, </a:t>
            </a:r>
            <a:r>
              <a:rPr lang="en-IN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10.14569/IJACSA.2022.0130208.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95630" marR="554355" indent="-342900" algn="just">
              <a:lnSpc>
                <a:spcPct val="150000"/>
              </a:lnSpc>
              <a:buFont typeface="+mj-lt"/>
              <a:buAutoNum type="arabicPeriod"/>
              <a:tabLst>
                <a:tab pos="480060" algn="l"/>
                <a:tab pos="481330" algn="l"/>
              </a:tabLst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M. Al-</a:t>
            </a:r>
            <a:r>
              <a:rPr lang="en-IN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Garadi</a:t>
            </a: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A. Mohamed, and S. A. Khan, “Machine Learning-Based Prediction Models for Heart Disease Diagnosis,” </a:t>
            </a:r>
            <a:r>
              <a:rPr lang="en-IN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Computers in Biology and Medicine</a:t>
            </a: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140, pp. 105112, 2022, </a:t>
            </a:r>
            <a:r>
              <a:rPr lang="en-IN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10.1016/j.compbiomed.2021.105112.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95630" marR="554355" indent="-342900" algn="just">
              <a:lnSpc>
                <a:spcPct val="150000"/>
              </a:lnSpc>
              <a:buFont typeface="+mj-lt"/>
              <a:buAutoNum type="arabicPeriod"/>
              <a:tabLst>
                <a:tab pos="480060" algn="l"/>
                <a:tab pos="481330" algn="l"/>
              </a:tabLst>
            </a:pP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P. Singh, K. Malhotra, and R. Joshi, “Prediction of Heart Disease Using </a:t>
            </a:r>
            <a:r>
              <a:rPr lang="en-IN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Streamlit</a:t>
            </a: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Ensemble Learning Models,” </a:t>
            </a:r>
            <a:r>
              <a:rPr lang="en-IN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International Conference on Computational Intelligence and Data Science (ICCIDS)</a:t>
            </a: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pp. 325–330, 2023.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76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BE580-51BF-4D65-CE70-C47B806B5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510" y="2475271"/>
            <a:ext cx="9144000" cy="1193800"/>
          </a:xfrm>
        </p:spPr>
        <p:txBody>
          <a:bodyPr>
            <a:normAutofit/>
          </a:bodyPr>
          <a:lstStyle/>
          <a:p>
            <a:r>
              <a:rPr 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THANK YOU</a:t>
            </a:r>
            <a:endParaRPr lang="en-IN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11E443-E4CE-8871-E089-79B465A29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74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553</TotalTime>
  <Words>1228</Words>
  <Application>Microsoft Office PowerPoint</Application>
  <PresentationFormat>Widescreen</PresentationFormat>
  <Paragraphs>165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ABSTRACT</vt:lpstr>
      <vt:lpstr>INTRODUCTION</vt:lpstr>
      <vt:lpstr>LITERATURE SURVEY</vt:lpstr>
      <vt:lpstr>EXISTING WORK</vt:lpstr>
      <vt:lpstr>PROPOSED WORK</vt:lpstr>
      <vt:lpstr>PROPOSED WORK MODULES</vt:lpstr>
      <vt:lpstr>DATASET DESCRIPTION</vt:lpstr>
      <vt:lpstr>PROPOSED ARCHITECTURE</vt:lpstr>
      <vt:lpstr>PROPOSED ALGORITHMS</vt:lpstr>
      <vt:lpstr>EXPERIMENTAL RESULTS &amp;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venu Rachapalli</dc:creator>
  <cp:lastModifiedBy>venu Rachapalli</cp:lastModifiedBy>
  <cp:revision>27</cp:revision>
  <dcterms:created xsi:type="dcterms:W3CDTF">2025-07-23T12:00:44Z</dcterms:created>
  <dcterms:modified xsi:type="dcterms:W3CDTF">2025-08-20T01:41:41Z</dcterms:modified>
</cp:coreProperties>
</file>