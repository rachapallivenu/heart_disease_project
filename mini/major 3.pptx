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6" r:id="rId1"/>
  </p:sldMasterIdLst>
  <p:sldIdLst>
    <p:sldId id="269" r:id="rId2"/>
    <p:sldId id="291" r:id="rId3"/>
    <p:sldId id="258" r:id="rId4"/>
    <p:sldId id="292" r:id="rId5"/>
    <p:sldId id="260" r:id="rId6"/>
    <p:sldId id="261" r:id="rId7"/>
    <p:sldId id="293" r:id="rId8"/>
    <p:sldId id="262" r:id="rId9"/>
    <p:sldId id="263" r:id="rId10"/>
    <p:sldId id="294" r:id="rId11"/>
    <p:sldId id="295" r:id="rId12"/>
    <p:sldId id="296" r:id="rId13"/>
    <p:sldId id="297" r:id="rId14"/>
    <p:sldId id="298" r:id="rId15"/>
    <p:sldId id="301" r:id="rId16"/>
    <p:sldId id="302" r:id="rId17"/>
    <p:sldId id="303" r:id="rId18"/>
    <p:sldId id="264" r:id="rId19"/>
    <p:sldId id="300" r:id="rId20"/>
    <p:sldId id="299" r:id="rId21"/>
    <p:sldId id="265"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0" autoAdjust="0"/>
    <p:restoredTop sz="95196" autoAdjust="0"/>
  </p:normalViewPr>
  <p:slideViewPr>
    <p:cSldViewPr snapToGrid="0">
      <p:cViewPr varScale="1">
        <p:scale>
          <a:sx n="82" d="100"/>
          <a:sy n="82" d="100"/>
        </p:scale>
        <p:origin x="1066"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marL="12700">
              <a:lnSpc>
                <a:spcPct val="100000"/>
              </a:lnSpc>
              <a:spcBef>
                <a:spcPts val="130"/>
              </a:spcBef>
            </a:pPr>
            <a:r>
              <a:rPr lang="en-IN" spc="-45"/>
              <a:t>14-03-2023</a:t>
            </a:r>
          </a:p>
        </p:txBody>
      </p:sp>
      <p:sp>
        <p:nvSpPr>
          <p:cNvPr id="5" name="Footer Placeholder 4"/>
          <p:cNvSpPr>
            <a:spLocks noGrp="1"/>
          </p:cNvSpPr>
          <p:nvPr>
            <p:ph type="ftr" sz="quarter" idx="11"/>
          </p:nvPr>
        </p:nvSpPr>
        <p:spPr/>
        <p:txBody>
          <a:bodyPr/>
          <a:lstStyle/>
          <a:p>
            <a:pPr marL="12700">
              <a:lnSpc>
                <a:spcPct val="100000"/>
              </a:lnSpc>
              <a:spcBef>
                <a:spcPts val="130"/>
              </a:spcBef>
            </a:pPr>
            <a:r>
              <a:rPr lang="en-IN" spc="-25"/>
              <a:t>L</a:t>
            </a:r>
            <a:r>
              <a:rPr lang="en-IN" spc="55"/>
              <a:t>A</a:t>
            </a:r>
            <a:r>
              <a:rPr lang="en-IN" spc="-50"/>
              <a:t>R</a:t>
            </a:r>
            <a:r>
              <a:rPr lang="en-IN" spc="-150"/>
              <a:t>S</a:t>
            </a:r>
          </a:p>
        </p:txBody>
      </p:sp>
      <p:sp>
        <p:nvSpPr>
          <p:cNvPr id="6" name="Slide Number Placeholder 5"/>
          <p:cNvSpPr>
            <a:spLocks noGrp="1"/>
          </p:cNvSpPr>
          <p:nvPr>
            <p:ph type="sldNum" sz="quarter" idx="12"/>
          </p:nvPr>
        </p:nvSpPr>
        <p:spPr/>
        <p:txBody>
          <a:bodyPr/>
          <a:lstStyle/>
          <a:p>
            <a:pPr marL="38100">
              <a:lnSpc>
                <a:spcPct val="100000"/>
              </a:lnSpc>
              <a:spcBef>
                <a:spcPts val="130"/>
              </a:spcBef>
            </a:pPr>
            <a:fld id="{81D60167-4931-47E6-BA6A-407CBD079E47}" type="slidenum">
              <a:rPr lang="en-IN" spc="-55" smtClean="0"/>
              <a:t>‹#›</a:t>
            </a:fld>
            <a:endParaRPr lang="en-IN" spc="-55"/>
          </a:p>
        </p:txBody>
      </p:sp>
    </p:spTree>
    <p:extLst>
      <p:ext uri="{BB962C8B-B14F-4D97-AF65-F5344CB8AC3E}">
        <p14:creationId xmlns:p14="http://schemas.microsoft.com/office/powerpoint/2010/main" val="3805218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marL="12700">
              <a:lnSpc>
                <a:spcPct val="100000"/>
              </a:lnSpc>
              <a:spcBef>
                <a:spcPts val="130"/>
              </a:spcBef>
            </a:pPr>
            <a:r>
              <a:rPr lang="en-IN" spc="-45"/>
              <a:t>14-03-2023</a:t>
            </a:r>
          </a:p>
        </p:txBody>
      </p:sp>
      <p:sp>
        <p:nvSpPr>
          <p:cNvPr id="5" name="Footer Placeholder 4"/>
          <p:cNvSpPr>
            <a:spLocks noGrp="1"/>
          </p:cNvSpPr>
          <p:nvPr>
            <p:ph type="ftr" sz="quarter" idx="11"/>
          </p:nvPr>
        </p:nvSpPr>
        <p:spPr/>
        <p:txBody>
          <a:bodyPr/>
          <a:lstStyle/>
          <a:p>
            <a:pPr marL="12700">
              <a:lnSpc>
                <a:spcPct val="100000"/>
              </a:lnSpc>
              <a:spcBef>
                <a:spcPts val="130"/>
              </a:spcBef>
            </a:pPr>
            <a:r>
              <a:rPr lang="en-IN" spc="-25"/>
              <a:t>L</a:t>
            </a:r>
            <a:r>
              <a:rPr lang="en-IN" spc="55"/>
              <a:t>A</a:t>
            </a:r>
            <a:r>
              <a:rPr lang="en-IN" spc="-50"/>
              <a:t>R</a:t>
            </a:r>
            <a:r>
              <a:rPr lang="en-IN" spc="-150"/>
              <a:t>S</a:t>
            </a:r>
          </a:p>
        </p:txBody>
      </p:sp>
      <p:sp>
        <p:nvSpPr>
          <p:cNvPr id="6" name="Slide Number Placeholder 5"/>
          <p:cNvSpPr>
            <a:spLocks noGrp="1"/>
          </p:cNvSpPr>
          <p:nvPr>
            <p:ph type="sldNum" sz="quarter" idx="12"/>
          </p:nvPr>
        </p:nvSpPr>
        <p:spPr/>
        <p:txBody>
          <a:bodyPr/>
          <a:lstStyle/>
          <a:p>
            <a:pPr marL="38100">
              <a:lnSpc>
                <a:spcPct val="100000"/>
              </a:lnSpc>
              <a:spcBef>
                <a:spcPts val="130"/>
              </a:spcBef>
            </a:pPr>
            <a:fld id="{81D60167-4931-47E6-BA6A-407CBD079E47}" type="slidenum">
              <a:rPr lang="en-IN" spc="-55" smtClean="0"/>
              <a:t>‹#›</a:t>
            </a:fld>
            <a:endParaRPr lang="en-IN" spc="-55"/>
          </a:p>
        </p:txBody>
      </p:sp>
    </p:spTree>
    <p:extLst>
      <p:ext uri="{BB962C8B-B14F-4D97-AF65-F5344CB8AC3E}">
        <p14:creationId xmlns:p14="http://schemas.microsoft.com/office/powerpoint/2010/main" val="9687502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marL="12700">
              <a:lnSpc>
                <a:spcPct val="100000"/>
              </a:lnSpc>
              <a:spcBef>
                <a:spcPts val="130"/>
              </a:spcBef>
            </a:pPr>
            <a:r>
              <a:rPr lang="en-IN" spc="-45"/>
              <a:t>14-03-2023</a:t>
            </a:r>
          </a:p>
        </p:txBody>
      </p:sp>
      <p:sp>
        <p:nvSpPr>
          <p:cNvPr id="5" name="Footer Placeholder 4"/>
          <p:cNvSpPr>
            <a:spLocks noGrp="1"/>
          </p:cNvSpPr>
          <p:nvPr>
            <p:ph type="ftr" sz="quarter" idx="11"/>
          </p:nvPr>
        </p:nvSpPr>
        <p:spPr/>
        <p:txBody>
          <a:bodyPr/>
          <a:lstStyle/>
          <a:p>
            <a:pPr marL="12700">
              <a:lnSpc>
                <a:spcPct val="100000"/>
              </a:lnSpc>
              <a:spcBef>
                <a:spcPts val="130"/>
              </a:spcBef>
            </a:pPr>
            <a:r>
              <a:rPr lang="en-IN" spc="-25"/>
              <a:t>L</a:t>
            </a:r>
            <a:r>
              <a:rPr lang="en-IN" spc="55"/>
              <a:t>A</a:t>
            </a:r>
            <a:r>
              <a:rPr lang="en-IN" spc="-50"/>
              <a:t>R</a:t>
            </a:r>
            <a:r>
              <a:rPr lang="en-IN" spc="-150"/>
              <a:t>S</a:t>
            </a:r>
          </a:p>
        </p:txBody>
      </p:sp>
      <p:sp>
        <p:nvSpPr>
          <p:cNvPr id="6" name="Slide Number Placeholder 5"/>
          <p:cNvSpPr>
            <a:spLocks noGrp="1"/>
          </p:cNvSpPr>
          <p:nvPr>
            <p:ph type="sldNum" sz="quarter" idx="12"/>
          </p:nvPr>
        </p:nvSpPr>
        <p:spPr/>
        <p:txBody>
          <a:bodyPr/>
          <a:lstStyle/>
          <a:p>
            <a:pPr marL="38100">
              <a:lnSpc>
                <a:spcPct val="100000"/>
              </a:lnSpc>
              <a:spcBef>
                <a:spcPts val="130"/>
              </a:spcBef>
            </a:pPr>
            <a:fld id="{81D60167-4931-47E6-BA6A-407CBD079E47}" type="slidenum">
              <a:rPr lang="en-IN" spc="-55" smtClean="0"/>
              <a:t>‹#›</a:t>
            </a:fld>
            <a:endParaRPr lang="en-IN" spc="-55"/>
          </a:p>
        </p:txBody>
      </p:sp>
    </p:spTree>
    <p:extLst>
      <p:ext uri="{BB962C8B-B14F-4D97-AF65-F5344CB8AC3E}">
        <p14:creationId xmlns:p14="http://schemas.microsoft.com/office/powerpoint/2010/main" val="39165529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marL="12700">
              <a:lnSpc>
                <a:spcPct val="100000"/>
              </a:lnSpc>
              <a:spcBef>
                <a:spcPts val="130"/>
              </a:spcBef>
            </a:pPr>
            <a:r>
              <a:rPr lang="en-IN" spc="-45"/>
              <a:t>14-03-2023</a:t>
            </a:r>
          </a:p>
        </p:txBody>
      </p:sp>
      <p:sp>
        <p:nvSpPr>
          <p:cNvPr id="6" name="Footer Placeholder 5"/>
          <p:cNvSpPr>
            <a:spLocks noGrp="1"/>
          </p:cNvSpPr>
          <p:nvPr>
            <p:ph type="ftr" sz="quarter" idx="11"/>
          </p:nvPr>
        </p:nvSpPr>
        <p:spPr/>
        <p:txBody>
          <a:bodyPr/>
          <a:lstStyle/>
          <a:p>
            <a:pPr marL="12700">
              <a:lnSpc>
                <a:spcPct val="100000"/>
              </a:lnSpc>
              <a:spcBef>
                <a:spcPts val="130"/>
              </a:spcBef>
            </a:pPr>
            <a:r>
              <a:rPr lang="en-IN" spc="-25"/>
              <a:t>L</a:t>
            </a:r>
            <a:r>
              <a:rPr lang="en-IN" spc="55"/>
              <a:t>A</a:t>
            </a:r>
            <a:r>
              <a:rPr lang="en-IN" spc="-50"/>
              <a:t>R</a:t>
            </a:r>
            <a:r>
              <a:rPr lang="en-IN" spc="-150"/>
              <a:t>S</a:t>
            </a:r>
          </a:p>
        </p:txBody>
      </p:sp>
      <p:sp>
        <p:nvSpPr>
          <p:cNvPr id="7" name="Slide Number Placeholder 6"/>
          <p:cNvSpPr>
            <a:spLocks noGrp="1"/>
          </p:cNvSpPr>
          <p:nvPr>
            <p:ph type="sldNum" sz="quarter" idx="12"/>
          </p:nvPr>
        </p:nvSpPr>
        <p:spPr/>
        <p:txBody>
          <a:bodyPr/>
          <a:lstStyle/>
          <a:p>
            <a:pPr marL="38100">
              <a:lnSpc>
                <a:spcPct val="100000"/>
              </a:lnSpc>
              <a:spcBef>
                <a:spcPts val="130"/>
              </a:spcBef>
            </a:pPr>
            <a:fld id="{81D60167-4931-47E6-BA6A-407CBD079E47}" type="slidenum">
              <a:rPr lang="en-IN" spc="-55" smtClean="0"/>
              <a:t>‹#›</a:t>
            </a:fld>
            <a:endParaRPr lang="en-IN" spc="-55"/>
          </a:p>
        </p:txBody>
      </p:sp>
    </p:spTree>
    <p:extLst>
      <p:ext uri="{BB962C8B-B14F-4D97-AF65-F5344CB8AC3E}">
        <p14:creationId xmlns:p14="http://schemas.microsoft.com/office/powerpoint/2010/main" val="30165604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marL="12700">
              <a:lnSpc>
                <a:spcPct val="100000"/>
              </a:lnSpc>
              <a:spcBef>
                <a:spcPts val="130"/>
              </a:spcBef>
            </a:pPr>
            <a:r>
              <a:rPr lang="en-IN" spc="-45"/>
              <a:t>14-03-2023</a:t>
            </a:r>
          </a:p>
        </p:txBody>
      </p:sp>
      <p:sp>
        <p:nvSpPr>
          <p:cNvPr id="8" name="Footer Placeholder 7"/>
          <p:cNvSpPr>
            <a:spLocks noGrp="1"/>
          </p:cNvSpPr>
          <p:nvPr>
            <p:ph type="ftr" sz="quarter" idx="11"/>
          </p:nvPr>
        </p:nvSpPr>
        <p:spPr/>
        <p:txBody>
          <a:bodyPr/>
          <a:lstStyle/>
          <a:p>
            <a:pPr marL="12700">
              <a:lnSpc>
                <a:spcPct val="100000"/>
              </a:lnSpc>
              <a:spcBef>
                <a:spcPts val="130"/>
              </a:spcBef>
            </a:pPr>
            <a:r>
              <a:rPr lang="en-IN" spc="-25"/>
              <a:t>L</a:t>
            </a:r>
            <a:r>
              <a:rPr lang="en-IN" spc="55"/>
              <a:t>A</a:t>
            </a:r>
            <a:r>
              <a:rPr lang="en-IN" spc="-50"/>
              <a:t>R</a:t>
            </a:r>
            <a:r>
              <a:rPr lang="en-IN" spc="-150"/>
              <a:t>S</a:t>
            </a:r>
          </a:p>
        </p:txBody>
      </p:sp>
      <p:sp>
        <p:nvSpPr>
          <p:cNvPr id="9" name="Slide Number Placeholder 8"/>
          <p:cNvSpPr>
            <a:spLocks noGrp="1"/>
          </p:cNvSpPr>
          <p:nvPr>
            <p:ph type="sldNum" sz="quarter" idx="12"/>
          </p:nvPr>
        </p:nvSpPr>
        <p:spPr/>
        <p:txBody>
          <a:bodyPr/>
          <a:lstStyle/>
          <a:p>
            <a:pPr marL="38100">
              <a:lnSpc>
                <a:spcPct val="100000"/>
              </a:lnSpc>
              <a:spcBef>
                <a:spcPts val="130"/>
              </a:spcBef>
            </a:pPr>
            <a:fld id="{81D60167-4931-47E6-BA6A-407CBD079E47}" type="slidenum">
              <a:rPr lang="en-IN" spc="-55" smtClean="0"/>
              <a:t>‹#›</a:t>
            </a:fld>
            <a:endParaRPr lang="en-IN" spc="-55"/>
          </a:p>
        </p:txBody>
      </p:sp>
    </p:spTree>
    <p:extLst>
      <p:ext uri="{BB962C8B-B14F-4D97-AF65-F5344CB8AC3E}">
        <p14:creationId xmlns:p14="http://schemas.microsoft.com/office/powerpoint/2010/main" val="40223430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marL="12700">
              <a:lnSpc>
                <a:spcPct val="100000"/>
              </a:lnSpc>
              <a:spcBef>
                <a:spcPts val="130"/>
              </a:spcBef>
            </a:pPr>
            <a:r>
              <a:rPr lang="en-IN" spc="-45"/>
              <a:t>14-03-2023</a:t>
            </a:r>
          </a:p>
        </p:txBody>
      </p:sp>
      <p:sp>
        <p:nvSpPr>
          <p:cNvPr id="4" name="Footer Placeholder 3"/>
          <p:cNvSpPr>
            <a:spLocks noGrp="1"/>
          </p:cNvSpPr>
          <p:nvPr>
            <p:ph type="ftr" sz="quarter" idx="11"/>
          </p:nvPr>
        </p:nvSpPr>
        <p:spPr/>
        <p:txBody>
          <a:bodyPr/>
          <a:lstStyle/>
          <a:p>
            <a:pPr marL="12700">
              <a:lnSpc>
                <a:spcPct val="100000"/>
              </a:lnSpc>
              <a:spcBef>
                <a:spcPts val="130"/>
              </a:spcBef>
            </a:pPr>
            <a:r>
              <a:rPr lang="en-IN" spc="-25"/>
              <a:t>L</a:t>
            </a:r>
            <a:r>
              <a:rPr lang="en-IN" spc="55"/>
              <a:t>A</a:t>
            </a:r>
            <a:r>
              <a:rPr lang="en-IN" spc="-50"/>
              <a:t>R</a:t>
            </a:r>
            <a:r>
              <a:rPr lang="en-IN" spc="-150"/>
              <a:t>S</a:t>
            </a:r>
          </a:p>
        </p:txBody>
      </p:sp>
      <p:sp>
        <p:nvSpPr>
          <p:cNvPr id="5" name="Slide Number Placeholder 4"/>
          <p:cNvSpPr>
            <a:spLocks noGrp="1"/>
          </p:cNvSpPr>
          <p:nvPr>
            <p:ph type="sldNum" sz="quarter" idx="12"/>
          </p:nvPr>
        </p:nvSpPr>
        <p:spPr/>
        <p:txBody>
          <a:bodyPr/>
          <a:lstStyle/>
          <a:p>
            <a:pPr marL="38100">
              <a:lnSpc>
                <a:spcPct val="100000"/>
              </a:lnSpc>
              <a:spcBef>
                <a:spcPts val="130"/>
              </a:spcBef>
            </a:pPr>
            <a:fld id="{81D60167-4931-47E6-BA6A-407CBD079E47}" type="slidenum">
              <a:rPr lang="en-IN" spc="-55" smtClean="0"/>
              <a:t>‹#›</a:t>
            </a:fld>
            <a:endParaRPr lang="en-IN" spc="-55"/>
          </a:p>
        </p:txBody>
      </p:sp>
    </p:spTree>
    <p:extLst>
      <p:ext uri="{BB962C8B-B14F-4D97-AF65-F5344CB8AC3E}">
        <p14:creationId xmlns:p14="http://schemas.microsoft.com/office/powerpoint/2010/main" val="1848195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12700">
              <a:lnSpc>
                <a:spcPct val="100000"/>
              </a:lnSpc>
              <a:spcBef>
                <a:spcPts val="130"/>
              </a:spcBef>
            </a:pPr>
            <a:r>
              <a:rPr lang="en-IN" spc="-45"/>
              <a:t>14-03-2023</a:t>
            </a:r>
          </a:p>
        </p:txBody>
      </p:sp>
      <p:sp>
        <p:nvSpPr>
          <p:cNvPr id="3" name="Footer Placeholder 2"/>
          <p:cNvSpPr>
            <a:spLocks noGrp="1"/>
          </p:cNvSpPr>
          <p:nvPr>
            <p:ph type="ftr" sz="quarter" idx="11"/>
          </p:nvPr>
        </p:nvSpPr>
        <p:spPr/>
        <p:txBody>
          <a:bodyPr/>
          <a:lstStyle/>
          <a:p>
            <a:pPr marL="12700">
              <a:lnSpc>
                <a:spcPct val="100000"/>
              </a:lnSpc>
              <a:spcBef>
                <a:spcPts val="130"/>
              </a:spcBef>
            </a:pPr>
            <a:r>
              <a:rPr lang="en-IN" spc="-25"/>
              <a:t>L</a:t>
            </a:r>
            <a:r>
              <a:rPr lang="en-IN" spc="55"/>
              <a:t>A</a:t>
            </a:r>
            <a:r>
              <a:rPr lang="en-IN" spc="-50"/>
              <a:t>R</a:t>
            </a:r>
            <a:r>
              <a:rPr lang="en-IN" spc="-150"/>
              <a:t>S</a:t>
            </a:r>
          </a:p>
        </p:txBody>
      </p:sp>
      <p:sp>
        <p:nvSpPr>
          <p:cNvPr id="4" name="Slide Number Placeholder 3"/>
          <p:cNvSpPr>
            <a:spLocks noGrp="1"/>
          </p:cNvSpPr>
          <p:nvPr>
            <p:ph type="sldNum" sz="quarter" idx="12"/>
          </p:nvPr>
        </p:nvSpPr>
        <p:spPr/>
        <p:txBody>
          <a:bodyPr/>
          <a:lstStyle/>
          <a:p>
            <a:pPr marL="38100">
              <a:lnSpc>
                <a:spcPct val="100000"/>
              </a:lnSpc>
              <a:spcBef>
                <a:spcPts val="130"/>
              </a:spcBef>
            </a:pPr>
            <a:fld id="{81D60167-4931-47E6-BA6A-407CBD079E47}" type="slidenum">
              <a:rPr lang="en-IN" spc="-55" smtClean="0"/>
              <a:t>‹#›</a:t>
            </a:fld>
            <a:endParaRPr lang="en-IN" spc="-55"/>
          </a:p>
        </p:txBody>
      </p:sp>
    </p:spTree>
    <p:extLst>
      <p:ext uri="{BB962C8B-B14F-4D97-AF65-F5344CB8AC3E}">
        <p14:creationId xmlns:p14="http://schemas.microsoft.com/office/powerpoint/2010/main" val="3470744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marL="12700">
              <a:lnSpc>
                <a:spcPct val="100000"/>
              </a:lnSpc>
              <a:spcBef>
                <a:spcPts val="130"/>
              </a:spcBef>
            </a:pPr>
            <a:r>
              <a:rPr lang="en-IN" spc="-45"/>
              <a:t>14-03-2023</a:t>
            </a:r>
          </a:p>
        </p:txBody>
      </p:sp>
      <p:sp>
        <p:nvSpPr>
          <p:cNvPr id="6" name="Footer Placeholder 5"/>
          <p:cNvSpPr>
            <a:spLocks noGrp="1"/>
          </p:cNvSpPr>
          <p:nvPr>
            <p:ph type="ftr" sz="quarter" idx="11"/>
          </p:nvPr>
        </p:nvSpPr>
        <p:spPr/>
        <p:txBody>
          <a:bodyPr/>
          <a:lstStyle/>
          <a:p>
            <a:pPr marL="12700">
              <a:lnSpc>
                <a:spcPct val="100000"/>
              </a:lnSpc>
              <a:spcBef>
                <a:spcPts val="130"/>
              </a:spcBef>
            </a:pPr>
            <a:r>
              <a:rPr lang="en-IN" spc="-25"/>
              <a:t>L</a:t>
            </a:r>
            <a:r>
              <a:rPr lang="en-IN" spc="55"/>
              <a:t>A</a:t>
            </a:r>
            <a:r>
              <a:rPr lang="en-IN" spc="-50"/>
              <a:t>R</a:t>
            </a:r>
            <a:r>
              <a:rPr lang="en-IN" spc="-150"/>
              <a:t>S</a:t>
            </a:r>
          </a:p>
        </p:txBody>
      </p:sp>
      <p:sp>
        <p:nvSpPr>
          <p:cNvPr id="7" name="Slide Number Placeholder 6"/>
          <p:cNvSpPr>
            <a:spLocks noGrp="1"/>
          </p:cNvSpPr>
          <p:nvPr>
            <p:ph type="sldNum" sz="quarter" idx="12"/>
          </p:nvPr>
        </p:nvSpPr>
        <p:spPr/>
        <p:txBody>
          <a:bodyPr/>
          <a:lstStyle/>
          <a:p>
            <a:pPr marL="38100">
              <a:lnSpc>
                <a:spcPct val="100000"/>
              </a:lnSpc>
              <a:spcBef>
                <a:spcPts val="130"/>
              </a:spcBef>
            </a:pPr>
            <a:fld id="{81D60167-4931-47E6-BA6A-407CBD079E47}" type="slidenum">
              <a:rPr lang="en-IN" spc="-55" smtClean="0"/>
              <a:t>‹#›</a:t>
            </a:fld>
            <a:endParaRPr lang="en-IN" spc="-55"/>
          </a:p>
        </p:txBody>
      </p:sp>
    </p:spTree>
    <p:extLst>
      <p:ext uri="{BB962C8B-B14F-4D97-AF65-F5344CB8AC3E}">
        <p14:creationId xmlns:p14="http://schemas.microsoft.com/office/powerpoint/2010/main" val="15019657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marL="12700">
              <a:lnSpc>
                <a:spcPct val="100000"/>
              </a:lnSpc>
              <a:spcBef>
                <a:spcPts val="130"/>
              </a:spcBef>
            </a:pPr>
            <a:r>
              <a:rPr lang="en-IN" spc="-45"/>
              <a:t>14-03-2023</a:t>
            </a:r>
          </a:p>
        </p:txBody>
      </p:sp>
      <p:sp>
        <p:nvSpPr>
          <p:cNvPr id="6" name="Footer Placeholder 5"/>
          <p:cNvSpPr>
            <a:spLocks noGrp="1"/>
          </p:cNvSpPr>
          <p:nvPr>
            <p:ph type="ftr" sz="quarter" idx="11"/>
          </p:nvPr>
        </p:nvSpPr>
        <p:spPr/>
        <p:txBody>
          <a:bodyPr/>
          <a:lstStyle/>
          <a:p>
            <a:pPr marL="12700">
              <a:lnSpc>
                <a:spcPct val="100000"/>
              </a:lnSpc>
              <a:spcBef>
                <a:spcPts val="130"/>
              </a:spcBef>
            </a:pPr>
            <a:r>
              <a:rPr lang="en-IN" spc="-25"/>
              <a:t>L</a:t>
            </a:r>
            <a:r>
              <a:rPr lang="en-IN" spc="55"/>
              <a:t>A</a:t>
            </a:r>
            <a:r>
              <a:rPr lang="en-IN" spc="-50"/>
              <a:t>R</a:t>
            </a:r>
            <a:r>
              <a:rPr lang="en-IN" spc="-150"/>
              <a:t>S</a:t>
            </a:r>
          </a:p>
        </p:txBody>
      </p:sp>
      <p:sp>
        <p:nvSpPr>
          <p:cNvPr id="7" name="Slide Number Placeholder 6"/>
          <p:cNvSpPr>
            <a:spLocks noGrp="1"/>
          </p:cNvSpPr>
          <p:nvPr>
            <p:ph type="sldNum" sz="quarter" idx="12"/>
          </p:nvPr>
        </p:nvSpPr>
        <p:spPr/>
        <p:txBody>
          <a:bodyPr/>
          <a:lstStyle/>
          <a:p>
            <a:pPr marL="38100">
              <a:lnSpc>
                <a:spcPct val="100000"/>
              </a:lnSpc>
              <a:spcBef>
                <a:spcPts val="130"/>
              </a:spcBef>
            </a:pPr>
            <a:fld id="{81D60167-4931-47E6-BA6A-407CBD079E47}" type="slidenum">
              <a:rPr lang="en-IN" spc="-55" smtClean="0"/>
              <a:t>‹#›</a:t>
            </a:fld>
            <a:endParaRPr lang="en-IN" spc="-55"/>
          </a:p>
        </p:txBody>
      </p:sp>
    </p:spTree>
    <p:extLst>
      <p:ext uri="{BB962C8B-B14F-4D97-AF65-F5344CB8AC3E}">
        <p14:creationId xmlns:p14="http://schemas.microsoft.com/office/powerpoint/2010/main" val="18951249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marL="12700">
              <a:lnSpc>
                <a:spcPct val="100000"/>
              </a:lnSpc>
              <a:spcBef>
                <a:spcPts val="130"/>
              </a:spcBef>
            </a:pPr>
            <a:r>
              <a:rPr lang="en-IN" spc="-45"/>
              <a:t>14-03-2023</a:t>
            </a:r>
          </a:p>
        </p:txBody>
      </p:sp>
      <p:sp>
        <p:nvSpPr>
          <p:cNvPr id="5" name="Footer Placeholder 4"/>
          <p:cNvSpPr>
            <a:spLocks noGrp="1"/>
          </p:cNvSpPr>
          <p:nvPr>
            <p:ph type="ftr" sz="quarter" idx="11"/>
          </p:nvPr>
        </p:nvSpPr>
        <p:spPr/>
        <p:txBody>
          <a:bodyPr/>
          <a:lstStyle/>
          <a:p>
            <a:pPr marL="12700">
              <a:lnSpc>
                <a:spcPct val="100000"/>
              </a:lnSpc>
              <a:spcBef>
                <a:spcPts val="130"/>
              </a:spcBef>
            </a:pPr>
            <a:r>
              <a:rPr lang="en-IN" spc="-25"/>
              <a:t>L</a:t>
            </a:r>
            <a:r>
              <a:rPr lang="en-IN" spc="55"/>
              <a:t>A</a:t>
            </a:r>
            <a:r>
              <a:rPr lang="en-IN" spc="-50"/>
              <a:t>R</a:t>
            </a:r>
            <a:r>
              <a:rPr lang="en-IN" spc="-150"/>
              <a:t>S</a:t>
            </a:r>
          </a:p>
        </p:txBody>
      </p:sp>
      <p:sp>
        <p:nvSpPr>
          <p:cNvPr id="6" name="Slide Number Placeholder 5"/>
          <p:cNvSpPr>
            <a:spLocks noGrp="1"/>
          </p:cNvSpPr>
          <p:nvPr>
            <p:ph type="sldNum" sz="quarter" idx="12"/>
          </p:nvPr>
        </p:nvSpPr>
        <p:spPr/>
        <p:txBody>
          <a:bodyPr/>
          <a:lstStyle/>
          <a:p>
            <a:pPr marL="38100">
              <a:lnSpc>
                <a:spcPct val="100000"/>
              </a:lnSpc>
              <a:spcBef>
                <a:spcPts val="130"/>
              </a:spcBef>
            </a:pPr>
            <a:fld id="{81D60167-4931-47E6-BA6A-407CBD079E47}" type="slidenum">
              <a:rPr lang="en-IN" spc="-55" smtClean="0"/>
              <a:t>‹#›</a:t>
            </a:fld>
            <a:endParaRPr lang="en-IN" spc="-55"/>
          </a:p>
        </p:txBody>
      </p:sp>
    </p:spTree>
    <p:extLst>
      <p:ext uri="{BB962C8B-B14F-4D97-AF65-F5344CB8AC3E}">
        <p14:creationId xmlns:p14="http://schemas.microsoft.com/office/powerpoint/2010/main" val="28571858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marL="12700">
              <a:lnSpc>
                <a:spcPct val="100000"/>
              </a:lnSpc>
              <a:spcBef>
                <a:spcPts val="130"/>
              </a:spcBef>
            </a:pPr>
            <a:r>
              <a:rPr lang="en-IN" spc="-45"/>
              <a:t>14-03-2023</a:t>
            </a:r>
          </a:p>
        </p:txBody>
      </p:sp>
      <p:sp>
        <p:nvSpPr>
          <p:cNvPr id="5" name="Footer Placeholder 4"/>
          <p:cNvSpPr>
            <a:spLocks noGrp="1"/>
          </p:cNvSpPr>
          <p:nvPr>
            <p:ph type="ftr" sz="quarter" idx="11"/>
          </p:nvPr>
        </p:nvSpPr>
        <p:spPr/>
        <p:txBody>
          <a:bodyPr/>
          <a:lstStyle/>
          <a:p>
            <a:pPr marL="12700">
              <a:lnSpc>
                <a:spcPct val="100000"/>
              </a:lnSpc>
              <a:spcBef>
                <a:spcPts val="130"/>
              </a:spcBef>
            </a:pPr>
            <a:r>
              <a:rPr lang="en-IN" spc="-25"/>
              <a:t>L</a:t>
            </a:r>
            <a:r>
              <a:rPr lang="en-IN" spc="55"/>
              <a:t>A</a:t>
            </a:r>
            <a:r>
              <a:rPr lang="en-IN" spc="-50"/>
              <a:t>R</a:t>
            </a:r>
            <a:r>
              <a:rPr lang="en-IN" spc="-150"/>
              <a:t>S</a:t>
            </a:r>
          </a:p>
        </p:txBody>
      </p:sp>
      <p:sp>
        <p:nvSpPr>
          <p:cNvPr id="6" name="Slide Number Placeholder 5"/>
          <p:cNvSpPr>
            <a:spLocks noGrp="1"/>
          </p:cNvSpPr>
          <p:nvPr>
            <p:ph type="sldNum" sz="quarter" idx="12"/>
          </p:nvPr>
        </p:nvSpPr>
        <p:spPr/>
        <p:txBody>
          <a:bodyPr/>
          <a:lstStyle/>
          <a:p>
            <a:pPr marL="38100">
              <a:lnSpc>
                <a:spcPct val="100000"/>
              </a:lnSpc>
              <a:spcBef>
                <a:spcPts val="130"/>
              </a:spcBef>
            </a:pPr>
            <a:fld id="{81D60167-4931-47E6-BA6A-407CBD079E47}" type="slidenum">
              <a:rPr lang="en-IN" spc="-55" smtClean="0"/>
              <a:t>‹#›</a:t>
            </a:fld>
            <a:endParaRPr lang="en-IN" spc="-55"/>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5433424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marL="12700">
              <a:lnSpc>
                <a:spcPct val="100000"/>
              </a:lnSpc>
              <a:spcBef>
                <a:spcPts val="130"/>
              </a:spcBef>
            </a:pPr>
            <a:r>
              <a:rPr lang="en-IN" spc="-45"/>
              <a:t>14-03-2023</a:t>
            </a:r>
          </a:p>
        </p:txBody>
      </p:sp>
      <p:sp>
        <p:nvSpPr>
          <p:cNvPr id="5" name="Footer Placeholder 4"/>
          <p:cNvSpPr>
            <a:spLocks noGrp="1"/>
          </p:cNvSpPr>
          <p:nvPr>
            <p:ph type="ftr" sz="quarter" idx="11"/>
          </p:nvPr>
        </p:nvSpPr>
        <p:spPr/>
        <p:txBody>
          <a:bodyPr/>
          <a:lstStyle/>
          <a:p>
            <a:pPr marL="12700">
              <a:lnSpc>
                <a:spcPct val="100000"/>
              </a:lnSpc>
              <a:spcBef>
                <a:spcPts val="130"/>
              </a:spcBef>
            </a:pPr>
            <a:r>
              <a:rPr lang="en-IN" spc="-25"/>
              <a:t>L</a:t>
            </a:r>
            <a:r>
              <a:rPr lang="en-IN" spc="55"/>
              <a:t>A</a:t>
            </a:r>
            <a:r>
              <a:rPr lang="en-IN" spc="-50"/>
              <a:t>R</a:t>
            </a:r>
            <a:r>
              <a:rPr lang="en-IN" spc="-150"/>
              <a:t>S</a:t>
            </a:r>
          </a:p>
        </p:txBody>
      </p:sp>
      <p:sp>
        <p:nvSpPr>
          <p:cNvPr id="6" name="Slide Number Placeholder 5"/>
          <p:cNvSpPr>
            <a:spLocks noGrp="1"/>
          </p:cNvSpPr>
          <p:nvPr>
            <p:ph type="sldNum" sz="quarter" idx="12"/>
          </p:nvPr>
        </p:nvSpPr>
        <p:spPr/>
        <p:txBody>
          <a:bodyPr/>
          <a:lstStyle/>
          <a:p>
            <a:pPr marL="38100">
              <a:lnSpc>
                <a:spcPct val="100000"/>
              </a:lnSpc>
              <a:spcBef>
                <a:spcPts val="130"/>
              </a:spcBef>
            </a:pPr>
            <a:fld id="{81D60167-4931-47E6-BA6A-407CBD079E47}" type="slidenum">
              <a:rPr lang="en-IN" spc="-55" smtClean="0"/>
              <a:t>‹#›</a:t>
            </a:fld>
            <a:endParaRPr lang="en-IN" spc="-55"/>
          </a:p>
        </p:txBody>
      </p:sp>
    </p:spTree>
    <p:extLst>
      <p:ext uri="{BB962C8B-B14F-4D97-AF65-F5344CB8AC3E}">
        <p14:creationId xmlns:p14="http://schemas.microsoft.com/office/powerpoint/2010/main" val="379839745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marL="12700">
              <a:lnSpc>
                <a:spcPct val="100000"/>
              </a:lnSpc>
              <a:spcBef>
                <a:spcPts val="130"/>
              </a:spcBef>
            </a:pPr>
            <a:r>
              <a:rPr lang="en-IN" spc="-45"/>
              <a:t>14-03-2023</a:t>
            </a:r>
          </a:p>
        </p:txBody>
      </p:sp>
      <p:sp>
        <p:nvSpPr>
          <p:cNvPr id="5" name="Footer Placeholder 4"/>
          <p:cNvSpPr>
            <a:spLocks noGrp="1"/>
          </p:cNvSpPr>
          <p:nvPr>
            <p:ph type="ftr" sz="quarter" idx="11"/>
          </p:nvPr>
        </p:nvSpPr>
        <p:spPr/>
        <p:txBody>
          <a:bodyPr/>
          <a:lstStyle/>
          <a:p>
            <a:pPr marL="12700">
              <a:lnSpc>
                <a:spcPct val="100000"/>
              </a:lnSpc>
              <a:spcBef>
                <a:spcPts val="130"/>
              </a:spcBef>
            </a:pPr>
            <a:r>
              <a:rPr lang="en-IN" spc="-25"/>
              <a:t>L</a:t>
            </a:r>
            <a:r>
              <a:rPr lang="en-IN" spc="55"/>
              <a:t>A</a:t>
            </a:r>
            <a:r>
              <a:rPr lang="en-IN" spc="-50"/>
              <a:t>R</a:t>
            </a:r>
            <a:r>
              <a:rPr lang="en-IN" spc="-150"/>
              <a:t>S</a:t>
            </a:r>
          </a:p>
        </p:txBody>
      </p:sp>
      <p:sp>
        <p:nvSpPr>
          <p:cNvPr id="6" name="Slide Number Placeholder 5"/>
          <p:cNvSpPr>
            <a:spLocks noGrp="1"/>
          </p:cNvSpPr>
          <p:nvPr>
            <p:ph type="sldNum" sz="quarter" idx="12"/>
          </p:nvPr>
        </p:nvSpPr>
        <p:spPr/>
        <p:txBody>
          <a:bodyPr/>
          <a:lstStyle/>
          <a:p>
            <a:pPr marL="38100">
              <a:lnSpc>
                <a:spcPct val="100000"/>
              </a:lnSpc>
              <a:spcBef>
                <a:spcPts val="130"/>
              </a:spcBef>
            </a:pPr>
            <a:fld id="{81D60167-4931-47E6-BA6A-407CBD079E47}" type="slidenum">
              <a:rPr lang="en-IN" spc="-55" smtClean="0"/>
              <a:t>‹#›</a:t>
            </a:fld>
            <a:endParaRPr lang="en-IN" spc="-55"/>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91988730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marL="12700">
              <a:lnSpc>
                <a:spcPct val="100000"/>
              </a:lnSpc>
              <a:spcBef>
                <a:spcPts val="130"/>
              </a:spcBef>
            </a:pPr>
            <a:r>
              <a:rPr lang="en-IN" spc="-45"/>
              <a:t>14-03-2023</a:t>
            </a:r>
          </a:p>
        </p:txBody>
      </p:sp>
      <p:sp>
        <p:nvSpPr>
          <p:cNvPr id="5" name="Footer Placeholder 4"/>
          <p:cNvSpPr>
            <a:spLocks noGrp="1"/>
          </p:cNvSpPr>
          <p:nvPr>
            <p:ph type="ftr" sz="quarter" idx="11"/>
          </p:nvPr>
        </p:nvSpPr>
        <p:spPr/>
        <p:txBody>
          <a:bodyPr/>
          <a:lstStyle/>
          <a:p>
            <a:pPr marL="12700">
              <a:lnSpc>
                <a:spcPct val="100000"/>
              </a:lnSpc>
              <a:spcBef>
                <a:spcPts val="130"/>
              </a:spcBef>
            </a:pPr>
            <a:r>
              <a:rPr lang="en-IN" spc="-25"/>
              <a:t>L</a:t>
            </a:r>
            <a:r>
              <a:rPr lang="en-IN" spc="55"/>
              <a:t>A</a:t>
            </a:r>
            <a:r>
              <a:rPr lang="en-IN" spc="-50"/>
              <a:t>R</a:t>
            </a:r>
            <a:r>
              <a:rPr lang="en-IN" spc="-150"/>
              <a:t>S</a:t>
            </a:r>
          </a:p>
        </p:txBody>
      </p:sp>
      <p:sp>
        <p:nvSpPr>
          <p:cNvPr id="6" name="Slide Number Placeholder 5"/>
          <p:cNvSpPr>
            <a:spLocks noGrp="1"/>
          </p:cNvSpPr>
          <p:nvPr>
            <p:ph type="sldNum" sz="quarter" idx="12"/>
          </p:nvPr>
        </p:nvSpPr>
        <p:spPr/>
        <p:txBody>
          <a:bodyPr/>
          <a:lstStyle/>
          <a:p>
            <a:pPr marL="38100">
              <a:lnSpc>
                <a:spcPct val="100000"/>
              </a:lnSpc>
              <a:spcBef>
                <a:spcPts val="130"/>
              </a:spcBef>
            </a:pPr>
            <a:fld id="{81D60167-4931-47E6-BA6A-407CBD079E47}" type="slidenum">
              <a:rPr lang="en-IN" spc="-55" smtClean="0"/>
              <a:t>‹#›</a:t>
            </a:fld>
            <a:endParaRPr lang="en-IN" spc="-55"/>
          </a:p>
        </p:txBody>
      </p:sp>
    </p:spTree>
    <p:extLst>
      <p:ext uri="{BB962C8B-B14F-4D97-AF65-F5344CB8AC3E}">
        <p14:creationId xmlns:p14="http://schemas.microsoft.com/office/powerpoint/2010/main" val="7501447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marL="12700">
              <a:lnSpc>
                <a:spcPct val="100000"/>
              </a:lnSpc>
              <a:spcBef>
                <a:spcPts val="130"/>
              </a:spcBef>
            </a:pPr>
            <a:r>
              <a:rPr lang="en-IN" spc="-45"/>
              <a:t>14-03-2023</a:t>
            </a:r>
          </a:p>
        </p:txBody>
      </p:sp>
      <p:sp>
        <p:nvSpPr>
          <p:cNvPr id="5" name="Footer Placeholder 4"/>
          <p:cNvSpPr>
            <a:spLocks noGrp="1"/>
          </p:cNvSpPr>
          <p:nvPr>
            <p:ph type="ftr" sz="quarter" idx="11"/>
          </p:nvPr>
        </p:nvSpPr>
        <p:spPr/>
        <p:txBody>
          <a:bodyPr/>
          <a:lstStyle/>
          <a:p>
            <a:pPr marL="12700">
              <a:lnSpc>
                <a:spcPct val="100000"/>
              </a:lnSpc>
              <a:spcBef>
                <a:spcPts val="130"/>
              </a:spcBef>
            </a:pPr>
            <a:r>
              <a:rPr lang="en-IN" spc="-25"/>
              <a:t>L</a:t>
            </a:r>
            <a:r>
              <a:rPr lang="en-IN" spc="55"/>
              <a:t>A</a:t>
            </a:r>
            <a:r>
              <a:rPr lang="en-IN" spc="-50"/>
              <a:t>R</a:t>
            </a:r>
            <a:r>
              <a:rPr lang="en-IN" spc="-150"/>
              <a:t>S</a:t>
            </a:r>
          </a:p>
        </p:txBody>
      </p:sp>
      <p:sp>
        <p:nvSpPr>
          <p:cNvPr id="6" name="Slide Number Placeholder 5"/>
          <p:cNvSpPr>
            <a:spLocks noGrp="1"/>
          </p:cNvSpPr>
          <p:nvPr>
            <p:ph type="sldNum" sz="quarter" idx="12"/>
          </p:nvPr>
        </p:nvSpPr>
        <p:spPr/>
        <p:txBody>
          <a:bodyPr/>
          <a:lstStyle/>
          <a:p>
            <a:pPr marL="38100">
              <a:lnSpc>
                <a:spcPct val="100000"/>
              </a:lnSpc>
              <a:spcBef>
                <a:spcPts val="130"/>
              </a:spcBef>
            </a:pPr>
            <a:fld id="{81D60167-4931-47E6-BA6A-407CBD079E47}" type="slidenum">
              <a:rPr lang="en-IN" spc="-55" smtClean="0"/>
              <a:t>‹#›</a:t>
            </a:fld>
            <a:endParaRPr lang="en-IN" spc="-55"/>
          </a:p>
        </p:txBody>
      </p:sp>
    </p:spTree>
    <p:extLst>
      <p:ext uri="{BB962C8B-B14F-4D97-AF65-F5344CB8AC3E}">
        <p14:creationId xmlns:p14="http://schemas.microsoft.com/office/powerpoint/2010/main" val="312801160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marL="12700">
              <a:lnSpc>
                <a:spcPct val="100000"/>
              </a:lnSpc>
              <a:spcBef>
                <a:spcPts val="130"/>
              </a:spcBef>
            </a:pPr>
            <a:r>
              <a:rPr lang="en-IN" spc="-45"/>
              <a:t>14-03-2023</a:t>
            </a:r>
          </a:p>
        </p:txBody>
      </p:sp>
      <p:sp>
        <p:nvSpPr>
          <p:cNvPr id="5" name="Footer Placeholder 4"/>
          <p:cNvSpPr>
            <a:spLocks noGrp="1"/>
          </p:cNvSpPr>
          <p:nvPr>
            <p:ph type="ftr" sz="quarter" idx="11"/>
          </p:nvPr>
        </p:nvSpPr>
        <p:spPr/>
        <p:txBody>
          <a:bodyPr/>
          <a:lstStyle/>
          <a:p>
            <a:pPr marL="12700">
              <a:lnSpc>
                <a:spcPct val="100000"/>
              </a:lnSpc>
              <a:spcBef>
                <a:spcPts val="130"/>
              </a:spcBef>
            </a:pPr>
            <a:r>
              <a:rPr lang="en-IN" spc="-25"/>
              <a:t>L</a:t>
            </a:r>
            <a:r>
              <a:rPr lang="en-IN" spc="55"/>
              <a:t>A</a:t>
            </a:r>
            <a:r>
              <a:rPr lang="en-IN" spc="-50"/>
              <a:t>R</a:t>
            </a:r>
            <a:r>
              <a:rPr lang="en-IN" spc="-150"/>
              <a:t>S</a:t>
            </a:r>
          </a:p>
        </p:txBody>
      </p:sp>
      <p:sp>
        <p:nvSpPr>
          <p:cNvPr id="6" name="Slide Number Placeholder 5"/>
          <p:cNvSpPr>
            <a:spLocks noGrp="1"/>
          </p:cNvSpPr>
          <p:nvPr>
            <p:ph type="sldNum" sz="quarter" idx="12"/>
          </p:nvPr>
        </p:nvSpPr>
        <p:spPr/>
        <p:txBody>
          <a:bodyPr/>
          <a:lstStyle/>
          <a:p>
            <a:pPr marL="38100">
              <a:lnSpc>
                <a:spcPct val="100000"/>
              </a:lnSpc>
              <a:spcBef>
                <a:spcPts val="130"/>
              </a:spcBef>
            </a:pPr>
            <a:fld id="{81D60167-4931-47E6-BA6A-407CBD079E47}" type="slidenum">
              <a:rPr lang="en-IN" spc="-55" smtClean="0"/>
              <a:t>‹#›</a:t>
            </a:fld>
            <a:endParaRPr lang="en-IN" spc="-55"/>
          </a:p>
        </p:txBody>
      </p:sp>
    </p:spTree>
    <p:extLst>
      <p:ext uri="{BB962C8B-B14F-4D97-AF65-F5344CB8AC3E}">
        <p14:creationId xmlns:p14="http://schemas.microsoft.com/office/powerpoint/2010/main" val="36271708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marL="12700">
              <a:lnSpc>
                <a:spcPct val="100000"/>
              </a:lnSpc>
              <a:spcBef>
                <a:spcPts val="130"/>
              </a:spcBef>
            </a:pPr>
            <a:r>
              <a:rPr lang="en-IN" spc="-45"/>
              <a:t>14-03-2023</a:t>
            </a:r>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marL="12700">
              <a:lnSpc>
                <a:spcPct val="100000"/>
              </a:lnSpc>
              <a:spcBef>
                <a:spcPts val="130"/>
              </a:spcBef>
            </a:pPr>
            <a:r>
              <a:rPr lang="en-IN" spc="-25"/>
              <a:t>L</a:t>
            </a:r>
            <a:r>
              <a:rPr lang="en-IN" spc="55"/>
              <a:t>A</a:t>
            </a:r>
            <a:r>
              <a:rPr lang="en-IN" spc="-50"/>
              <a:t>R</a:t>
            </a:r>
            <a:r>
              <a:rPr lang="en-IN" spc="-150"/>
              <a:t>S</a:t>
            </a:r>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pPr marL="38100">
              <a:lnSpc>
                <a:spcPct val="100000"/>
              </a:lnSpc>
              <a:spcBef>
                <a:spcPts val="130"/>
              </a:spcBef>
            </a:pPr>
            <a:fld id="{81D60167-4931-47E6-BA6A-407CBD079E47}" type="slidenum">
              <a:rPr lang="en-IN" spc="-55" smtClean="0"/>
              <a:t>‹#›</a:t>
            </a:fld>
            <a:endParaRPr lang="en-IN" spc="-55"/>
          </a:p>
        </p:txBody>
      </p:sp>
    </p:spTree>
    <p:extLst>
      <p:ext uri="{BB962C8B-B14F-4D97-AF65-F5344CB8AC3E}">
        <p14:creationId xmlns:p14="http://schemas.microsoft.com/office/powerpoint/2010/main" val="1778212423"/>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jp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tackoverflow.com/questions/38985145/count-number-of-smaller-values-while-inserting-into-binary-search-tree-bst" TargetMode="External"/><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hyperlink" Target="https://stileex.xyz/en/types-computer-software/" TargetMode="External"/><Relationship Id="rId2" Type="http://schemas.openxmlformats.org/officeDocument/2006/relationships/image" Target="../media/image7.jpeg"/><Relationship Id="rId1" Type="http://schemas.openxmlformats.org/officeDocument/2006/relationships/slideLayout" Target="../slideLayouts/slideLayout2.xml"/><Relationship Id="rId4" Type="http://schemas.openxmlformats.org/officeDocument/2006/relationships/hyperlink" Target="https://creativecommons.org/licenses/by/3.0/" TargetMode="External"/></Relationships>
</file>

<file path=ppt/slides/_rels/slide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hyperlink" Target="http://www.bbc.co.uk/news/" TargetMode="Externa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802755" y="4830381"/>
            <a:ext cx="2539282" cy="1495922"/>
          </a:xfrm>
          <a:prstGeom prst="rect">
            <a:avLst/>
          </a:prstGeom>
        </p:spPr>
        <p:txBody>
          <a:bodyPr vert="horz" wrap="square" lIns="0" tIns="15875" rIns="0" bIns="0" rtlCol="0" anchor="t">
            <a:spAutoFit/>
          </a:bodyPr>
          <a:lstStyle/>
          <a:p>
            <a:pPr marL="12700">
              <a:lnSpc>
                <a:spcPct val="100000"/>
              </a:lnSpc>
              <a:spcBef>
                <a:spcPts val="125"/>
              </a:spcBef>
            </a:pPr>
            <a:r>
              <a:rPr sz="1850" b="1" spc="40" dirty="0">
                <a:latin typeface="Times New Roman"/>
                <a:cs typeface="Times New Roman"/>
              </a:rPr>
              <a:t>By</a:t>
            </a:r>
            <a:endParaRPr sz="1850" dirty="0">
              <a:latin typeface="Times New Roman"/>
              <a:cs typeface="Times New Roman"/>
            </a:endParaRPr>
          </a:p>
          <a:p>
            <a:pPr marL="12700" marR="5080">
              <a:lnSpc>
                <a:spcPts val="2330"/>
              </a:lnSpc>
              <a:spcBef>
                <a:spcPts val="95"/>
              </a:spcBef>
            </a:pPr>
            <a:r>
              <a:rPr lang="en-US" sz="1850" b="1" spc="-135" dirty="0">
                <a:latin typeface="Times New Roman"/>
                <a:cs typeface="Times New Roman"/>
              </a:rPr>
              <a:t>P. </a:t>
            </a:r>
            <a:r>
              <a:rPr lang="en-US" sz="1850" b="1" spc="-135" dirty="0" err="1">
                <a:latin typeface="Times New Roman"/>
                <a:cs typeface="Times New Roman"/>
              </a:rPr>
              <a:t>Pravalika</a:t>
            </a:r>
            <a:endParaRPr lang="en-US" sz="1850" dirty="0">
              <a:latin typeface="Times New Roman"/>
              <a:cs typeface="Times New Roman"/>
            </a:endParaRPr>
          </a:p>
          <a:p>
            <a:pPr marL="12700" marR="5080">
              <a:lnSpc>
                <a:spcPts val="2330"/>
              </a:lnSpc>
              <a:spcBef>
                <a:spcPts val="95"/>
              </a:spcBef>
            </a:pPr>
            <a:r>
              <a:rPr lang="en-US" sz="1850" b="1" spc="5" dirty="0" err="1">
                <a:latin typeface="Times New Roman"/>
                <a:cs typeface="Times New Roman"/>
              </a:rPr>
              <a:t>P.Alfa</a:t>
            </a:r>
            <a:endParaRPr lang="en-US" sz="1850" b="1" spc="5" dirty="0">
              <a:latin typeface="Times New Roman"/>
              <a:cs typeface="Times New Roman"/>
            </a:endParaRPr>
          </a:p>
          <a:p>
            <a:pPr marL="12700">
              <a:lnSpc>
                <a:spcPts val="2155"/>
              </a:lnSpc>
            </a:pPr>
            <a:r>
              <a:rPr lang="en-US" sz="1850" b="1" spc="10" dirty="0" err="1">
                <a:latin typeface="Times New Roman"/>
                <a:cs typeface="Times New Roman"/>
              </a:rPr>
              <a:t>R.Venu</a:t>
            </a:r>
            <a:endParaRPr lang="en-US" sz="1850" b="1" spc="10" dirty="0">
              <a:latin typeface="Times New Roman"/>
              <a:cs typeface="Times New Roman"/>
            </a:endParaRPr>
          </a:p>
          <a:p>
            <a:pPr marL="12700">
              <a:spcBef>
                <a:spcPts val="110"/>
              </a:spcBef>
            </a:pPr>
            <a:r>
              <a:rPr lang="en-US" sz="1850" b="1" spc="20" dirty="0">
                <a:latin typeface="Times New Roman"/>
                <a:cs typeface="Times New Roman"/>
              </a:rPr>
              <a:t>MD. Rahman </a:t>
            </a:r>
            <a:r>
              <a:rPr lang="en-US" sz="1850" b="1" spc="20" dirty="0">
                <a:solidFill>
                  <a:srgbClr val="FFFFFF"/>
                </a:solidFill>
                <a:latin typeface="Times New Roman"/>
                <a:cs typeface="Times New Roman"/>
              </a:rPr>
              <a:t>Shareef</a:t>
            </a:r>
            <a:endParaRPr sz="1850" b="1" spc="20" dirty="0">
              <a:solidFill>
                <a:srgbClr val="FFFFFF"/>
              </a:solidFill>
              <a:latin typeface="Times New Roman"/>
              <a:cs typeface="Times New Roman"/>
            </a:endParaRPr>
          </a:p>
        </p:txBody>
      </p:sp>
      <p:sp>
        <p:nvSpPr>
          <p:cNvPr id="3" name="object 3"/>
          <p:cNvSpPr txBox="1"/>
          <p:nvPr/>
        </p:nvSpPr>
        <p:spPr>
          <a:xfrm>
            <a:off x="9545955" y="5110162"/>
            <a:ext cx="1849755" cy="1147109"/>
          </a:xfrm>
          <a:prstGeom prst="rect">
            <a:avLst/>
          </a:prstGeom>
        </p:spPr>
        <p:txBody>
          <a:bodyPr vert="horz" wrap="square" lIns="0" tIns="15875" rIns="0" bIns="0" rtlCol="0" anchor="t">
            <a:spAutoFit/>
          </a:bodyPr>
          <a:lstStyle/>
          <a:p>
            <a:pPr marL="41275">
              <a:lnSpc>
                <a:spcPct val="100000"/>
              </a:lnSpc>
              <a:spcBef>
                <a:spcPts val="125"/>
              </a:spcBef>
              <a:tabLst>
                <a:tab pos="346075" algn="l"/>
              </a:tabLst>
            </a:pPr>
            <a:r>
              <a:rPr sz="1850" b="1" spc="5" dirty="0">
                <a:solidFill>
                  <a:srgbClr val="FFFFFF"/>
                </a:solidFill>
                <a:latin typeface="Times New Roman"/>
                <a:cs typeface="Times New Roman"/>
              </a:rPr>
              <a:t>:	</a:t>
            </a:r>
            <a:r>
              <a:rPr sz="1850" b="1" spc="25" dirty="0">
                <a:latin typeface="Times New Roman"/>
                <a:cs typeface="Times New Roman"/>
              </a:rPr>
              <a:t>(</a:t>
            </a:r>
            <a:r>
              <a:rPr lang="en-US" sz="1850" b="1" spc="25" dirty="0">
                <a:latin typeface="Times New Roman"/>
                <a:cs typeface="Times New Roman"/>
              </a:rPr>
              <a:t>208R1A0547</a:t>
            </a:r>
            <a:r>
              <a:rPr sz="1850" b="1" spc="25" dirty="0">
                <a:latin typeface="Times New Roman"/>
                <a:cs typeface="Times New Roman"/>
              </a:rPr>
              <a:t>)</a:t>
            </a:r>
            <a:endParaRPr sz="1850" dirty="0">
              <a:latin typeface="Times New Roman"/>
              <a:cs typeface="Times New Roman"/>
            </a:endParaRPr>
          </a:p>
          <a:p>
            <a:pPr marL="12700">
              <a:lnSpc>
                <a:spcPts val="2200"/>
              </a:lnSpc>
              <a:spcBef>
                <a:spcPts val="35"/>
              </a:spcBef>
              <a:tabLst>
                <a:tab pos="346075" algn="l"/>
              </a:tabLst>
            </a:pPr>
            <a:r>
              <a:rPr sz="1850" b="1" spc="5" dirty="0">
                <a:latin typeface="Times New Roman"/>
                <a:cs typeface="Times New Roman"/>
              </a:rPr>
              <a:t>:	</a:t>
            </a:r>
            <a:r>
              <a:rPr sz="1850" b="1" spc="25" dirty="0">
                <a:latin typeface="Times New Roman"/>
                <a:cs typeface="Times New Roman"/>
              </a:rPr>
              <a:t>(</a:t>
            </a:r>
            <a:r>
              <a:rPr lang="en-US" sz="1850" b="1" spc="25" dirty="0">
                <a:latin typeface="Times New Roman"/>
                <a:cs typeface="Times New Roman"/>
              </a:rPr>
              <a:t>218R5A0546</a:t>
            </a:r>
            <a:r>
              <a:rPr sz="1850" b="1" spc="25" dirty="0">
                <a:latin typeface="Times New Roman"/>
                <a:cs typeface="Times New Roman"/>
              </a:rPr>
              <a:t>)</a:t>
            </a:r>
            <a:endParaRPr sz="1850" dirty="0">
              <a:latin typeface="Times New Roman"/>
              <a:cs typeface="Times New Roman"/>
            </a:endParaRPr>
          </a:p>
          <a:p>
            <a:pPr marL="31750">
              <a:lnSpc>
                <a:spcPts val="2180"/>
              </a:lnSpc>
              <a:tabLst>
                <a:tab pos="346075" algn="l"/>
              </a:tabLst>
            </a:pPr>
            <a:r>
              <a:rPr sz="1850" b="1" spc="5" dirty="0">
                <a:latin typeface="Times New Roman"/>
                <a:cs typeface="Times New Roman"/>
              </a:rPr>
              <a:t>:	</a:t>
            </a:r>
            <a:r>
              <a:rPr sz="1850" b="1" spc="25" dirty="0">
                <a:latin typeface="Times New Roman"/>
                <a:cs typeface="Times New Roman"/>
              </a:rPr>
              <a:t>(</a:t>
            </a:r>
            <a:r>
              <a:rPr lang="en-US" sz="1850" b="1" spc="25" dirty="0">
                <a:latin typeface="Times New Roman"/>
                <a:cs typeface="Times New Roman"/>
              </a:rPr>
              <a:t>208R1A0548</a:t>
            </a:r>
            <a:r>
              <a:rPr sz="1850" b="1" spc="25" dirty="0">
                <a:latin typeface="Times New Roman"/>
                <a:cs typeface="Times New Roman"/>
              </a:rPr>
              <a:t>)</a:t>
            </a:r>
            <a:endParaRPr sz="1850" dirty="0">
              <a:latin typeface="Times New Roman"/>
              <a:cs typeface="Times New Roman"/>
            </a:endParaRPr>
          </a:p>
          <a:p>
            <a:pPr marL="31750">
              <a:lnSpc>
                <a:spcPts val="2200"/>
              </a:lnSpc>
              <a:tabLst>
                <a:tab pos="355600" algn="l"/>
              </a:tabLst>
            </a:pPr>
            <a:r>
              <a:rPr sz="1850" b="1" spc="5" dirty="0">
                <a:latin typeface="Times New Roman"/>
                <a:cs typeface="Times New Roman"/>
              </a:rPr>
              <a:t>:	</a:t>
            </a:r>
            <a:r>
              <a:rPr sz="1850" b="1" spc="25" dirty="0">
                <a:latin typeface="Times New Roman"/>
                <a:cs typeface="Times New Roman"/>
              </a:rPr>
              <a:t>(</a:t>
            </a:r>
            <a:r>
              <a:rPr lang="en-US" sz="1850" b="1" spc="25" dirty="0">
                <a:latin typeface="Times New Roman"/>
                <a:cs typeface="Times New Roman"/>
              </a:rPr>
              <a:t>208R1A0552</a:t>
            </a:r>
            <a:r>
              <a:rPr sz="1850" b="1" spc="25" dirty="0">
                <a:solidFill>
                  <a:srgbClr val="FFFFFF"/>
                </a:solidFill>
                <a:latin typeface="Times New Roman"/>
                <a:cs typeface="Times New Roman"/>
              </a:rPr>
              <a:t>)</a:t>
            </a:r>
            <a:endParaRPr sz="1850" dirty="0">
              <a:latin typeface="Times New Roman"/>
              <a:cs typeface="Times New Roman"/>
            </a:endParaRPr>
          </a:p>
        </p:txBody>
      </p:sp>
      <p:grpSp>
        <p:nvGrpSpPr>
          <p:cNvPr id="4" name="object 4"/>
          <p:cNvGrpSpPr/>
          <p:nvPr/>
        </p:nvGrpSpPr>
        <p:grpSpPr>
          <a:xfrm>
            <a:off x="2134698" y="216102"/>
            <a:ext cx="8559026" cy="1841798"/>
            <a:chOff x="2105010" y="37973"/>
            <a:chExt cx="9053830" cy="2138680"/>
          </a:xfrm>
        </p:grpSpPr>
        <p:pic>
          <p:nvPicPr>
            <p:cNvPr id="5" name="object 5"/>
            <p:cNvPicPr/>
            <p:nvPr/>
          </p:nvPicPr>
          <p:blipFill>
            <a:blip r:embed="rId2" cstate="print"/>
            <a:stretch>
              <a:fillRect/>
            </a:stretch>
          </p:blipFill>
          <p:spPr>
            <a:xfrm>
              <a:off x="2105010" y="123629"/>
              <a:ext cx="9053605" cy="1909940"/>
            </a:xfrm>
            <a:prstGeom prst="rect">
              <a:avLst/>
            </a:prstGeom>
          </p:spPr>
        </p:pic>
        <p:pic>
          <p:nvPicPr>
            <p:cNvPr id="6" name="object 6"/>
            <p:cNvPicPr/>
            <p:nvPr/>
          </p:nvPicPr>
          <p:blipFill>
            <a:blip r:embed="rId3" cstate="print"/>
            <a:stretch>
              <a:fillRect/>
            </a:stretch>
          </p:blipFill>
          <p:spPr>
            <a:xfrm>
              <a:off x="2457450" y="37973"/>
              <a:ext cx="8443976" cy="2138426"/>
            </a:xfrm>
            <a:prstGeom prst="rect">
              <a:avLst/>
            </a:prstGeom>
          </p:spPr>
        </p:pic>
        <p:pic>
          <p:nvPicPr>
            <p:cNvPr id="7" name="object 7"/>
            <p:cNvPicPr/>
            <p:nvPr/>
          </p:nvPicPr>
          <p:blipFill>
            <a:blip r:embed="rId4" cstate="print"/>
            <a:stretch>
              <a:fillRect/>
            </a:stretch>
          </p:blipFill>
          <p:spPr>
            <a:xfrm>
              <a:off x="2138426" y="138175"/>
              <a:ext cx="8991600" cy="1838325"/>
            </a:xfrm>
            <a:prstGeom prst="rect">
              <a:avLst/>
            </a:prstGeom>
          </p:spPr>
        </p:pic>
      </p:grpSp>
      <p:sp>
        <p:nvSpPr>
          <p:cNvPr id="8" name="object 8"/>
          <p:cNvSpPr txBox="1"/>
          <p:nvPr/>
        </p:nvSpPr>
        <p:spPr>
          <a:xfrm>
            <a:off x="1498489" y="20634"/>
            <a:ext cx="9530295" cy="4825167"/>
          </a:xfrm>
          <a:prstGeom prst="rect">
            <a:avLst/>
          </a:prstGeom>
          <a:ln w="9525">
            <a:solidFill>
              <a:srgbClr val="97B853"/>
            </a:solidFill>
          </a:ln>
        </p:spPr>
        <p:txBody>
          <a:bodyPr vert="horz" wrap="square" lIns="0" tIns="83820" rIns="0" bIns="0" rtlCol="0" anchor="t">
            <a:spAutoFit/>
          </a:bodyPr>
          <a:lstStyle/>
          <a:p>
            <a:pPr marL="678815">
              <a:lnSpc>
                <a:spcPct val="100000"/>
              </a:lnSpc>
              <a:spcBef>
                <a:spcPts val="660"/>
              </a:spcBef>
              <a:tabLst>
                <a:tab pos="5930900" algn="l"/>
              </a:tabLst>
            </a:pPr>
            <a:r>
              <a:rPr sz="3950" b="1" spc="15" dirty="0">
                <a:solidFill>
                  <a:srgbClr val="006FC0"/>
                </a:solidFill>
                <a:latin typeface="Times New Roman"/>
                <a:cs typeface="Times New Roman"/>
              </a:rPr>
              <a:t>CMR</a:t>
            </a:r>
            <a:r>
              <a:rPr sz="3950" b="1" spc="30" dirty="0">
                <a:solidFill>
                  <a:srgbClr val="006FC0"/>
                </a:solidFill>
                <a:latin typeface="Times New Roman"/>
                <a:cs typeface="Times New Roman"/>
              </a:rPr>
              <a:t> </a:t>
            </a:r>
            <a:r>
              <a:rPr sz="3950" b="1" spc="5" dirty="0">
                <a:solidFill>
                  <a:srgbClr val="006FC0"/>
                </a:solidFill>
                <a:latin typeface="Times New Roman"/>
                <a:cs typeface="Times New Roman"/>
              </a:rPr>
              <a:t>ENGINEERING	</a:t>
            </a:r>
            <a:r>
              <a:rPr sz="3950" b="1" spc="-5" dirty="0">
                <a:solidFill>
                  <a:srgbClr val="006FC0"/>
                </a:solidFill>
                <a:latin typeface="Times New Roman"/>
                <a:cs typeface="Times New Roman"/>
              </a:rPr>
              <a:t>COLLEGE</a:t>
            </a:r>
            <a:endParaRPr sz="3950" dirty="0">
              <a:latin typeface="Times New Roman"/>
              <a:cs typeface="Times New Roman"/>
            </a:endParaRPr>
          </a:p>
          <a:p>
            <a:pPr marL="3414395">
              <a:lnSpc>
                <a:spcPct val="100000"/>
              </a:lnSpc>
              <a:spcBef>
                <a:spcPts val="745"/>
              </a:spcBef>
            </a:pPr>
            <a:r>
              <a:rPr sz="1850" b="1" i="1" spc="5" dirty="0">
                <a:solidFill>
                  <a:srgbClr val="0F243E"/>
                </a:solidFill>
                <a:latin typeface="Times New Roman"/>
                <a:cs typeface="Times New Roman"/>
              </a:rPr>
              <a:t>(UGC</a:t>
            </a:r>
            <a:r>
              <a:rPr sz="1850" b="1" i="1" spc="-100" dirty="0">
                <a:solidFill>
                  <a:srgbClr val="0F243E"/>
                </a:solidFill>
                <a:latin typeface="Times New Roman"/>
                <a:cs typeface="Times New Roman"/>
              </a:rPr>
              <a:t> </a:t>
            </a:r>
            <a:r>
              <a:rPr sz="1850" b="1" i="1" spc="10" dirty="0">
                <a:solidFill>
                  <a:srgbClr val="0F243E"/>
                </a:solidFill>
                <a:latin typeface="Times New Roman"/>
                <a:cs typeface="Times New Roman"/>
              </a:rPr>
              <a:t>AUTONOMOUS)</a:t>
            </a:r>
            <a:endParaRPr sz="1850" dirty="0">
              <a:latin typeface="Times New Roman"/>
              <a:cs typeface="Times New Roman"/>
            </a:endParaRPr>
          </a:p>
          <a:p>
            <a:pPr marL="2461260" marR="709295" indent="-1315720">
              <a:lnSpc>
                <a:spcPct val="131900"/>
              </a:lnSpc>
              <a:spcBef>
                <a:spcPts val="75"/>
              </a:spcBef>
            </a:pPr>
            <a:r>
              <a:rPr sz="1850" i="1" spc="-15" dirty="0">
                <a:solidFill>
                  <a:srgbClr val="FF0000"/>
                </a:solidFill>
                <a:latin typeface="Times New Roman"/>
                <a:cs typeface="Times New Roman"/>
              </a:rPr>
              <a:t>(</a:t>
            </a:r>
            <a:r>
              <a:rPr sz="1550" i="1" spc="-15" dirty="0">
                <a:solidFill>
                  <a:srgbClr val="FF0000"/>
                </a:solidFill>
                <a:latin typeface="Times New Roman"/>
                <a:cs typeface="Times New Roman"/>
              </a:rPr>
              <a:t>Accredited</a:t>
            </a:r>
            <a:r>
              <a:rPr sz="1550" i="1" spc="254" dirty="0">
                <a:solidFill>
                  <a:srgbClr val="FF0000"/>
                </a:solidFill>
                <a:latin typeface="Times New Roman"/>
                <a:cs typeface="Times New Roman"/>
              </a:rPr>
              <a:t> </a:t>
            </a:r>
            <a:r>
              <a:rPr sz="1550" i="1" spc="25" dirty="0">
                <a:solidFill>
                  <a:srgbClr val="FF0000"/>
                </a:solidFill>
                <a:latin typeface="Times New Roman"/>
                <a:cs typeface="Times New Roman"/>
              </a:rPr>
              <a:t>by</a:t>
            </a:r>
            <a:r>
              <a:rPr sz="1550" i="1" spc="-30" dirty="0">
                <a:solidFill>
                  <a:srgbClr val="FF0000"/>
                </a:solidFill>
                <a:latin typeface="Times New Roman"/>
                <a:cs typeface="Times New Roman"/>
              </a:rPr>
              <a:t> </a:t>
            </a:r>
            <a:r>
              <a:rPr sz="1550" i="1" spc="-5" dirty="0" err="1">
                <a:solidFill>
                  <a:srgbClr val="FF0000"/>
                </a:solidFill>
                <a:latin typeface="Times New Roman"/>
                <a:cs typeface="Times New Roman"/>
              </a:rPr>
              <a:t>NBA,Approved</a:t>
            </a:r>
            <a:r>
              <a:rPr sz="1550" i="1" spc="195" dirty="0">
                <a:solidFill>
                  <a:srgbClr val="FF0000"/>
                </a:solidFill>
                <a:latin typeface="Times New Roman"/>
                <a:cs typeface="Times New Roman"/>
              </a:rPr>
              <a:t> </a:t>
            </a:r>
            <a:r>
              <a:rPr sz="1550" i="1" spc="25" dirty="0">
                <a:solidFill>
                  <a:srgbClr val="FF0000"/>
                </a:solidFill>
                <a:latin typeface="Times New Roman"/>
                <a:cs typeface="Times New Roman"/>
              </a:rPr>
              <a:t>by</a:t>
            </a:r>
            <a:r>
              <a:rPr sz="1550" i="1" spc="-30" dirty="0">
                <a:solidFill>
                  <a:srgbClr val="FF0000"/>
                </a:solidFill>
                <a:latin typeface="Times New Roman"/>
                <a:cs typeface="Times New Roman"/>
              </a:rPr>
              <a:t> </a:t>
            </a:r>
            <a:r>
              <a:rPr sz="1550" i="1" spc="5" dirty="0">
                <a:solidFill>
                  <a:srgbClr val="FF0000"/>
                </a:solidFill>
                <a:latin typeface="Times New Roman"/>
                <a:cs typeface="Times New Roman"/>
              </a:rPr>
              <a:t>AICTE</a:t>
            </a:r>
            <a:r>
              <a:rPr sz="1550" i="1" spc="80" dirty="0">
                <a:solidFill>
                  <a:srgbClr val="FF0000"/>
                </a:solidFill>
                <a:latin typeface="Times New Roman"/>
                <a:cs typeface="Times New Roman"/>
              </a:rPr>
              <a:t> </a:t>
            </a:r>
            <a:r>
              <a:rPr sz="1550" i="1" spc="20" dirty="0">
                <a:solidFill>
                  <a:srgbClr val="FF0000"/>
                </a:solidFill>
                <a:latin typeface="Times New Roman"/>
                <a:cs typeface="Times New Roman"/>
              </a:rPr>
              <a:t>NEW</a:t>
            </a:r>
            <a:r>
              <a:rPr sz="1550" i="1" spc="25" dirty="0">
                <a:solidFill>
                  <a:srgbClr val="FF0000"/>
                </a:solidFill>
                <a:latin typeface="Times New Roman"/>
                <a:cs typeface="Times New Roman"/>
              </a:rPr>
              <a:t> </a:t>
            </a:r>
            <a:r>
              <a:rPr sz="1550" i="1" spc="10" dirty="0">
                <a:solidFill>
                  <a:srgbClr val="FF0000"/>
                </a:solidFill>
                <a:latin typeface="Times New Roman"/>
                <a:cs typeface="Times New Roman"/>
              </a:rPr>
              <a:t>DELHI,</a:t>
            </a:r>
            <a:r>
              <a:rPr sz="1550" i="1" spc="-25" dirty="0">
                <a:solidFill>
                  <a:srgbClr val="FF0000"/>
                </a:solidFill>
                <a:latin typeface="Times New Roman"/>
                <a:cs typeface="Times New Roman"/>
              </a:rPr>
              <a:t> </a:t>
            </a:r>
            <a:r>
              <a:rPr sz="1550" i="1" spc="5" dirty="0">
                <a:solidFill>
                  <a:srgbClr val="FF0000"/>
                </a:solidFill>
                <a:latin typeface="Times New Roman"/>
                <a:cs typeface="Times New Roman"/>
              </a:rPr>
              <a:t>Affiliated</a:t>
            </a:r>
            <a:r>
              <a:rPr sz="1550" i="1" spc="105" dirty="0">
                <a:solidFill>
                  <a:srgbClr val="FF0000"/>
                </a:solidFill>
                <a:latin typeface="Times New Roman"/>
                <a:cs typeface="Times New Roman"/>
              </a:rPr>
              <a:t> </a:t>
            </a:r>
            <a:r>
              <a:rPr sz="1550" i="1" spc="10" dirty="0">
                <a:solidFill>
                  <a:srgbClr val="FF0000"/>
                </a:solidFill>
                <a:latin typeface="Times New Roman"/>
                <a:cs typeface="Times New Roman"/>
              </a:rPr>
              <a:t>to</a:t>
            </a:r>
            <a:r>
              <a:rPr sz="1550" i="1" spc="-50" dirty="0">
                <a:solidFill>
                  <a:srgbClr val="FF0000"/>
                </a:solidFill>
                <a:latin typeface="Times New Roman"/>
                <a:cs typeface="Times New Roman"/>
              </a:rPr>
              <a:t> </a:t>
            </a:r>
            <a:r>
              <a:rPr sz="1550" i="1" spc="5" dirty="0">
                <a:solidFill>
                  <a:srgbClr val="FF0000"/>
                </a:solidFill>
                <a:latin typeface="Times New Roman"/>
                <a:cs typeface="Times New Roman"/>
              </a:rPr>
              <a:t>JNTU,</a:t>
            </a:r>
            <a:r>
              <a:rPr sz="1550" i="1" spc="95" dirty="0">
                <a:solidFill>
                  <a:srgbClr val="FF0000"/>
                </a:solidFill>
                <a:latin typeface="Times New Roman"/>
                <a:cs typeface="Times New Roman"/>
              </a:rPr>
              <a:t> </a:t>
            </a:r>
            <a:r>
              <a:rPr sz="1550" i="1" spc="15" dirty="0">
                <a:solidFill>
                  <a:srgbClr val="FF0000"/>
                </a:solidFill>
                <a:latin typeface="Times New Roman"/>
                <a:cs typeface="Times New Roman"/>
              </a:rPr>
              <a:t>Hyderabad)</a:t>
            </a:r>
            <a:r>
              <a:rPr lang="en-US" sz="1550" i="1" spc="15" dirty="0">
                <a:solidFill>
                  <a:srgbClr val="FF0000"/>
                </a:solidFill>
                <a:latin typeface="Times New Roman"/>
                <a:cs typeface="Times New Roman"/>
              </a:rPr>
              <a:t> </a:t>
            </a:r>
            <a:r>
              <a:rPr sz="1550" i="1" spc="-375" dirty="0">
                <a:solidFill>
                  <a:srgbClr val="FF0000"/>
                </a:solidFill>
                <a:latin typeface="Times New Roman"/>
                <a:cs typeface="Times New Roman"/>
              </a:rPr>
              <a:t> </a:t>
            </a:r>
            <a:r>
              <a:rPr sz="1550" i="1" spc="30" dirty="0" err="1">
                <a:solidFill>
                  <a:srgbClr val="FF0000"/>
                </a:solidFill>
                <a:latin typeface="Times New Roman"/>
                <a:cs typeface="Times New Roman"/>
              </a:rPr>
              <a:t>Kandlakoya</a:t>
            </a:r>
            <a:r>
              <a:rPr sz="1550" i="1" spc="30" dirty="0">
                <a:solidFill>
                  <a:srgbClr val="FF0000"/>
                </a:solidFill>
                <a:latin typeface="Times New Roman"/>
                <a:cs typeface="Times New Roman"/>
              </a:rPr>
              <a:t>,</a:t>
            </a:r>
            <a:r>
              <a:rPr sz="1550" i="1" spc="-185" dirty="0">
                <a:solidFill>
                  <a:srgbClr val="FF0000"/>
                </a:solidFill>
                <a:latin typeface="Times New Roman"/>
                <a:cs typeface="Times New Roman"/>
              </a:rPr>
              <a:t> </a:t>
            </a:r>
            <a:r>
              <a:rPr sz="1550" i="1" spc="20" dirty="0" err="1">
                <a:solidFill>
                  <a:srgbClr val="FF0000"/>
                </a:solidFill>
                <a:latin typeface="Times New Roman"/>
                <a:cs typeface="Times New Roman"/>
              </a:rPr>
              <a:t>Medchal</a:t>
            </a:r>
            <a:r>
              <a:rPr sz="1550" i="1" spc="-65" dirty="0">
                <a:solidFill>
                  <a:srgbClr val="FF0000"/>
                </a:solidFill>
                <a:latin typeface="Times New Roman"/>
                <a:cs typeface="Times New Roman"/>
              </a:rPr>
              <a:t> </a:t>
            </a:r>
            <a:r>
              <a:rPr sz="1550" i="1" spc="30" dirty="0">
                <a:solidFill>
                  <a:srgbClr val="FF0000"/>
                </a:solidFill>
                <a:latin typeface="Times New Roman"/>
                <a:cs typeface="Times New Roman"/>
              </a:rPr>
              <a:t>Road,</a:t>
            </a:r>
            <a:r>
              <a:rPr sz="1550" i="1" spc="-35" dirty="0">
                <a:solidFill>
                  <a:srgbClr val="FF0000"/>
                </a:solidFill>
                <a:latin typeface="Times New Roman"/>
                <a:cs typeface="Times New Roman"/>
              </a:rPr>
              <a:t> </a:t>
            </a:r>
            <a:r>
              <a:rPr sz="1550" i="1" spc="20" dirty="0">
                <a:solidFill>
                  <a:srgbClr val="FF0000"/>
                </a:solidFill>
                <a:latin typeface="Times New Roman"/>
                <a:cs typeface="Times New Roman"/>
              </a:rPr>
              <a:t>Hyderabad-501</a:t>
            </a:r>
            <a:r>
              <a:rPr sz="1550" i="1" spc="-130" dirty="0">
                <a:solidFill>
                  <a:srgbClr val="FF0000"/>
                </a:solidFill>
                <a:latin typeface="Times New Roman"/>
                <a:cs typeface="Times New Roman"/>
              </a:rPr>
              <a:t> </a:t>
            </a:r>
            <a:r>
              <a:rPr sz="1550" i="1" spc="35" dirty="0">
                <a:solidFill>
                  <a:srgbClr val="FF0000"/>
                </a:solidFill>
                <a:latin typeface="Times New Roman"/>
                <a:cs typeface="Times New Roman"/>
              </a:rPr>
              <a:t>401</a:t>
            </a:r>
            <a:endParaRPr sz="1850" i="1" spc="35" dirty="0">
              <a:solidFill>
                <a:srgbClr val="FF0000"/>
              </a:solidFill>
              <a:latin typeface="Times New Roman"/>
              <a:cs typeface="Times New Roman"/>
            </a:endParaRPr>
          </a:p>
          <a:p>
            <a:pPr marL="2461260" marR="709295" indent="-1315720">
              <a:lnSpc>
                <a:spcPct val="131900"/>
              </a:lnSpc>
              <a:spcBef>
                <a:spcPts val="75"/>
              </a:spcBef>
            </a:pPr>
            <a:r>
              <a:rPr lang="en-US" sz="1850" b="1" spc="35" dirty="0">
                <a:latin typeface="Times New Roman"/>
                <a:cs typeface="Times New Roman"/>
              </a:rPr>
              <a:t>         Department of Computer Science &amp; Engineering</a:t>
            </a:r>
            <a:br>
              <a:rPr lang="en-US" sz="1850" b="1" spc="35" dirty="0">
                <a:latin typeface="Times New Roman"/>
                <a:cs typeface="Times New Roman"/>
              </a:rPr>
            </a:br>
            <a:r>
              <a:rPr lang="en-US" sz="1850" b="1" spc="35" dirty="0">
                <a:latin typeface="Times New Roman"/>
                <a:cs typeface="Times New Roman"/>
              </a:rPr>
              <a:t>        MAJOR PROJECT</a:t>
            </a:r>
            <a:br>
              <a:rPr lang="en-US" sz="1850" b="1" spc="35" dirty="0">
                <a:latin typeface="Times New Roman"/>
                <a:cs typeface="Times New Roman"/>
              </a:rPr>
            </a:br>
            <a:r>
              <a:rPr lang="en-US" sz="1850" b="1" spc="35" dirty="0">
                <a:latin typeface="Times New Roman"/>
                <a:cs typeface="Times New Roman"/>
              </a:rPr>
              <a:t>                   ON</a:t>
            </a:r>
          </a:p>
          <a:p>
            <a:pPr marL="2461260" marR="709295" indent="-1315720">
              <a:lnSpc>
                <a:spcPct val="131900"/>
              </a:lnSpc>
              <a:spcBef>
                <a:spcPts val="75"/>
              </a:spcBef>
            </a:pPr>
            <a:r>
              <a:rPr lang="en-US" sz="1850" b="1" spc="35" dirty="0">
                <a:latin typeface="Times New Roman"/>
                <a:cs typeface="Times New Roman"/>
              </a:rPr>
              <a:t>ACTIVE ONLINE LEARNING FOR SOCIAL MEDIA ANALYSIS TO    SUPPORT CRISIS MANGEMENT                                   </a:t>
            </a:r>
            <a:br>
              <a:rPr lang="en-US" sz="1850" b="1" spc="35" dirty="0">
                <a:latin typeface="Times New Roman"/>
                <a:cs typeface="Times New Roman"/>
              </a:rPr>
            </a:br>
            <a:br>
              <a:rPr lang="en-US" sz="1850" b="1" spc="35" dirty="0">
                <a:latin typeface="Times New Roman"/>
                <a:cs typeface="Times New Roman"/>
              </a:rPr>
            </a:br>
            <a:endParaRPr lang="en-US" sz="1850" b="1" spc="35" dirty="0">
              <a:latin typeface="Times New Roman"/>
              <a:cs typeface="Times New Roman"/>
            </a:endParaRPr>
          </a:p>
        </p:txBody>
      </p:sp>
      <p:sp>
        <p:nvSpPr>
          <p:cNvPr id="10" name="object 10"/>
          <p:cNvSpPr txBox="1"/>
          <p:nvPr/>
        </p:nvSpPr>
        <p:spPr>
          <a:xfrm>
            <a:off x="800936" y="4793551"/>
            <a:ext cx="2247490" cy="1347100"/>
          </a:xfrm>
          <a:prstGeom prst="rect">
            <a:avLst/>
          </a:prstGeom>
        </p:spPr>
        <p:txBody>
          <a:bodyPr vert="horz" wrap="square" lIns="0" tIns="16510" rIns="0" bIns="0" rtlCol="0" anchor="t">
            <a:spAutoFit/>
          </a:bodyPr>
          <a:lstStyle/>
          <a:p>
            <a:pPr marL="12700" marR="5080" indent="57150">
              <a:lnSpc>
                <a:spcPct val="116700"/>
              </a:lnSpc>
              <a:spcBef>
                <a:spcPts val="130"/>
              </a:spcBef>
            </a:pPr>
            <a:r>
              <a:rPr sz="1850" b="1" dirty="0">
                <a:latin typeface="Times New Roman"/>
                <a:cs typeface="Times New Roman"/>
              </a:rPr>
              <a:t>Internal Guide:</a:t>
            </a:r>
            <a:r>
              <a:rPr sz="1800" b="1" dirty="0">
                <a:latin typeface="Times New Roman"/>
                <a:cs typeface="Times New Roman"/>
              </a:rPr>
              <a:t>-</a:t>
            </a:r>
            <a:r>
              <a:rPr lang="en-US" b="1" dirty="0">
                <a:latin typeface="Times New Roman"/>
                <a:cs typeface="Times New Roman"/>
              </a:rPr>
              <a:t> </a:t>
            </a:r>
            <a:r>
              <a:rPr lang="en-US" b="1" spc="5" dirty="0">
                <a:latin typeface="Times New Roman"/>
                <a:cs typeface="Times New Roman"/>
              </a:rPr>
              <a:t> </a:t>
            </a:r>
            <a:endParaRPr lang="en-US" sz="1850" dirty="0">
              <a:latin typeface="Times New Roman"/>
              <a:cs typeface="Times New Roman"/>
            </a:endParaRPr>
          </a:p>
          <a:p>
            <a:pPr marL="12700" marR="5080" indent="57150">
              <a:lnSpc>
                <a:spcPct val="116700"/>
              </a:lnSpc>
              <a:spcBef>
                <a:spcPts val="130"/>
              </a:spcBef>
            </a:pPr>
            <a:r>
              <a:rPr lang="en-US" b="1" spc="5" dirty="0" err="1">
                <a:latin typeface="Times New Roman"/>
                <a:cs typeface="Times New Roman"/>
              </a:rPr>
              <a:t>M</a:t>
            </a:r>
            <a:r>
              <a:rPr lang="en-US" sz="1850" b="1" spc="15" dirty="0" err="1">
                <a:latin typeface="Times New Roman"/>
                <a:cs typeface="Times New Roman"/>
              </a:rPr>
              <a:t>rs</a:t>
            </a:r>
            <a:r>
              <a:rPr sz="1850" b="1" spc="15" dirty="0" err="1">
                <a:latin typeface="Times New Roman"/>
                <a:cs typeface="Times New Roman"/>
              </a:rPr>
              <a:t>.</a:t>
            </a:r>
            <a:r>
              <a:rPr lang="en-US" sz="1850" b="1" spc="15" dirty="0" err="1">
                <a:latin typeface="Times New Roman"/>
                <a:cs typeface="Times New Roman"/>
              </a:rPr>
              <a:t>Y.Prathima</a:t>
            </a:r>
            <a:r>
              <a:rPr sz="1850" b="1" spc="20" dirty="0">
                <a:latin typeface="Times New Roman"/>
                <a:cs typeface="Times New Roman"/>
              </a:rPr>
              <a:t> </a:t>
            </a:r>
            <a:r>
              <a:rPr sz="1850" b="1" spc="15" dirty="0">
                <a:latin typeface="Times New Roman"/>
                <a:cs typeface="Times New Roman"/>
              </a:rPr>
              <a:t>A</a:t>
            </a:r>
            <a:r>
              <a:rPr sz="1850" b="1" spc="95" dirty="0">
                <a:latin typeface="Times New Roman"/>
                <a:cs typeface="Times New Roman"/>
              </a:rPr>
              <a:t>s</a:t>
            </a:r>
            <a:r>
              <a:rPr sz="1850" b="1" spc="105" dirty="0">
                <a:latin typeface="Times New Roman"/>
                <a:cs typeface="Times New Roman"/>
              </a:rPr>
              <a:t>s</a:t>
            </a:r>
            <a:r>
              <a:rPr sz="1850" b="1" spc="-65" dirty="0">
                <a:latin typeface="Times New Roman"/>
                <a:cs typeface="Times New Roman"/>
              </a:rPr>
              <a:t>i</a:t>
            </a:r>
            <a:r>
              <a:rPr sz="1850" b="1" spc="30" dirty="0">
                <a:latin typeface="Times New Roman"/>
                <a:cs typeface="Times New Roman"/>
              </a:rPr>
              <a:t>s</a:t>
            </a:r>
            <a:r>
              <a:rPr sz="1850" b="1" spc="-20" dirty="0">
                <a:latin typeface="Times New Roman"/>
                <a:cs typeface="Times New Roman"/>
              </a:rPr>
              <a:t>t</a:t>
            </a:r>
            <a:r>
              <a:rPr sz="1850" b="1" spc="-30" dirty="0">
                <a:latin typeface="Times New Roman"/>
                <a:cs typeface="Times New Roman"/>
              </a:rPr>
              <a:t>a</a:t>
            </a:r>
            <a:r>
              <a:rPr sz="1850" b="1" spc="20" dirty="0">
                <a:latin typeface="Times New Roman"/>
                <a:cs typeface="Times New Roman"/>
              </a:rPr>
              <a:t>n</a:t>
            </a:r>
            <a:r>
              <a:rPr sz="1850" b="1" spc="5" dirty="0">
                <a:latin typeface="Times New Roman"/>
                <a:cs typeface="Times New Roman"/>
              </a:rPr>
              <a:t>t</a:t>
            </a:r>
            <a:r>
              <a:rPr sz="1850" b="1" spc="-270" dirty="0">
                <a:latin typeface="Times New Roman"/>
                <a:cs typeface="Times New Roman"/>
              </a:rPr>
              <a:t> </a:t>
            </a:r>
            <a:r>
              <a:rPr sz="1850" b="1" spc="65" dirty="0">
                <a:latin typeface="Times New Roman"/>
                <a:cs typeface="Times New Roman"/>
              </a:rPr>
              <a:t>P</a:t>
            </a:r>
            <a:r>
              <a:rPr sz="1850" b="1" dirty="0">
                <a:latin typeface="Times New Roman"/>
                <a:cs typeface="Times New Roman"/>
              </a:rPr>
              <a:t>r</a:t>
            </a:r>
            <a:r>
              <a:rPr sz="1850" b="1" spc="-30" dirty="0">
                <a:latin typeface="Times New Roman"/>
                <a:cs typeface="Times New Roman"/>
              </a:rPr>
              <a:t>o</a:t>
            </a:r>
            <a:r>
              <a:rPr sz="1850" b="1" spc="-20" dirty="0">
                <a:latin typeface="Times New Roman"/>
                <a:cs typeface="Times New Roman"/>
              </a:rPr>
              <a:t>f</a:t>
            </a:r>
            <a:r>
              <a:rPr sz="1850" b="1" dirty="0">
                <a:latin typeface="Times New Roman"/>
                <a:cs typeface="Times New Roman"/>
              </a:rPr>
              <a:t>e</a:t>
            </a:r>
            <a:r>
              <a:rPr sz="1850" b="1" spc="100" dirty="0">
                <a:latin typeface="Times New Roman"/>
                <a:cs typeface="Times New Roman"/>
              </a:rPr>
              <a:t>ss</a:t>
            </a:r>
            <a:r>
              <a:rPr sz="1850" b="1" spc="-30" dirty="0">
                <a:latin typeface="Times New Roman"/>
                <a:cs typeface="Times New Roman"/>
              </a:rPr>
              <a:t>o</a:t>
            </a:r>
            <a:r>
              <a:rPr sz="1850" b="1" spc="-150" dirty="0">
                <a:latin typeface="Times New Roman"/>
                <a:cs typeface="Times New Roman"/>
              </a:rPr>
              <a:t>r</a:t>
            </a:r>
            <a:r>
              <a:rPr sz="1850" b="1" spc="5" dirty="0">
                <a:latin typeface="Times New Roman"/>
                <a:cs typeface="Times New Roman"/>
              </a:rPr>
              <a:t>,</a:t>
            </a:r>
            <a:endParaRPr lang="en-US" sz="1850" dirty="0">
              <a:latin typeface="Times New Roman"/>
              <a:cs typeface="Times New Roman"/>
            </a:endParaRPr>
          </a:p>
          <a:p>
            <a:pPr marL="12700" marR="5080" indent="57150">
              <a:lnSpc>
                <a:spcPct val="116700"/>
              </a:lnSpc>
              <a:spcBef>
                <a:spcPts val="130"/>
              </a:spcBef>
            </a:pPr>
            <a:r>
              <a:rPr sz="1850" b="1" spc="15" dirty="0">
                <a:latin typeface="Times New Roman"/>
                <a:cs typeface="Times New Roman"/>
              </a:rPr>
              <a:t>D</a:t>
            </a:r>
            <a:r>
              <a:rPr sz="1850" b="1" spc="-5" dirty="0">
                <a:latin typeface="Times New Roman"/>
                <a:cs typeface="Times New Roman"/>
              </a:rPr>
              <a:t>e</a:t>
            </a:r>
            <a:r>
              <a:rPr sz="1850" b="1" spc="15" dirty="0">
                <a:latin typeface="Times New Roman"/>
                <a:cs typeface="Times New Roman"/>
              </a:rPr>
              <a:t>p</a:t>
            </a:r>
            <a:r>
              <a:rPr sz="1850" b="1" spc="-20" dirty="0">
                <a:latin typeface="Times New Roman"/>
                <a:cs typeface="Times New Roman"/>
              </a:rPr>
              <a:t>t</a:t>
            </a:r>
            <a:r>
              <a:rPr sz="1850" b="1" spc="5" dirty="0">
                <a:latin typeface="Times New Roman"/>
                <a:cs typeface="Times New Roman"/>
              </a:rPr>
              <a:t>.</a:t>
            </a:r>
            <a:r>
              <a:rPr sz="1850" b="1" spc="-105" dirty="0">
                <a:latin typeface="Times New Roman"/>
                <a:cs typeface="Times New Roman"/>
              </a:rPr>
              <a:t> </a:t>
            </a:r>
            <a:r>
              <a:rPr sz="1850" b="1" spc="-30" dirty="0">
                <a:latin typeface="Times New Roman"/>
                <a:cs typeface="Times New Roman"/>
              </a:rPr>
              <a:t>o</a:t>
            </a:r>
            <a:r>
              <a:rPr sz="1850" b="1" spc="5" dirty="0">
                <a:latin typeface="Times New Roman"/>
                <a:cs typeface="Times New Roman"/>
              </a:rPr>
              <a:t>f</a:t>
            </a:r>
            <a:r>
              <a:rPr sz="1850" b="1" spc="35" dirty="0">
                <a:latin typeface="Times New Roman"/>
                <a:cs typeface="Times New Roman"/>
              </a:rPr>
              <a:t> </a:t>
            </a:r>
            <a:r>
              <a:rPr sz="1850" b="1" spc="-70" dirty="0">
                <a:latin typeface="Times New Roman"/>
                <a:cs typeface="Times New Roman"/>
              </a:rPr>
              <a:t>C</a:t>
            </a:r>
            <a:r>
              <a:rPr sz="1850" b="1" spc="15" dirty="0">
                <a:latin typeface="Times New Roman"/>
                <a:cs typeface="Times New Roman"/>
              </a:rPr>
              <a:t>S</a:t>
            </a:r>
            <a:r>
              <a:rPr sz="1850" b="1" spc="35" dirty="0">
                <a:latin typeface="Times New Roman"/>
                <a:cs typeface="Times New Roman"/>
              </a:rPr>
              <a:t>E</a:t>
            </a:r>
            <a:r>
              <a:rPr sz="1850" b="1" spc="5" dirty="0">
                <a:latin typeface="Times New Roman"/>
                <a:cs typeface="Times New Roman"/>
              </a:rPr>
              <a:t>.</a:t>
            </a:r>
            <a:endParaRPr sz="1850" dirty="0">
              <a:latin typeface="Times New Roman"/>
              <a:cs typeface="Times New Roman"/>
            </a:endParaRPr>
          </a:p>
        </p:txBody>
      </p:sp>
      <p:sp>
        <p:nvSpPr>
          <p:cNvPr id="11" name="object 11"/>
          <p:cNvSpPr txBox="1"/>
          <p:nvPr/>
        </p:nvSpPr>
        <p:spPr>
          <a:xfrm>
            <a:off x="4072001" y="5976937"/>
            <a:ext cx="2533650" cy="513602"/>
          </a:xfrm>
          <a:prstGeom prst="rect">
            <a:avLst/>
          </a:prstGeom>
          <a:solidFill>
            <a:srgbClr val="FFFFFF"/>
          </a:solidFill>
          <a:ln w="9525">
            <a:solidFill>
              <a:srgbClr val="FF0000"/>
            </a:solidFill>
          </a:ln>
        </p:spPr>
        <p:txBody>
          <a:bodyPr vert="horz" wrap="square" lIns="0" tIns="20955" rIns="0" bIns="0" rtlCol="0">
            <a:spAutoFit/>
          </a:bodyPr>
          <a:lstStyle/>
          <a:p>
            <a:pPr marL="86360">
              <a:lnSpc>
                <a:spcPct val="100000"/>
              </a:lnSpc>
              <a:spcBef>
                <a:spcPts val="165"/>
              </a:spcBef>
            </a:pPr>
            <a:r>
              <a:rPr sz="3200" b="1" spc="-105" dirty="0">
                <a:solidFill>
                  <a:srgbClr val="001F5F"/>
                </a:solidFill>
                <a:latin typeface="Calibri"/>
                <a:cs typeface="Calibri"/>
              </a:rPr>
              <a:t>A.Y</a:t>
            </a:r>
            <a:r>
              <a:rPr sz="3200" b="1" spc="-30" dirty="0">
                <a:solidFill>
                  <a:srgbClr val="001F5F"/>
                </a:solidFill>
                <a:latin typeface="Calibri"/>
                <a:cs typeface="Calibri"/>
              </a:rPr>
              <a:t> </a:t>
            </a:r>
            <a:r>
              <a:rPr sz="2700" b="1" spc="-20" dirty="0">
                <a:solidFill>
                  <a:srgbClr val="001F5F"/>
                </a:solidFill>
                <a:latin typeface="Calibri"/>
                <a:cs typeface="Calibri"/>
              </a:rPr>
              <a:t>202</a:t>
            </a:r>
            <a:r>
              <a:rPr lang="en-IN" sz="2700" b="1" spc="-20" dirty="0">
                <a:solidFill>
                  <a:srgbClr val="001F5F"/>
                </a:solidFill>
                <a:latin typeface="Calibri"/>
                <a:cs typeface="Calibri"/>
              </a:rPr>
              <a:t>3</a:t>
            </a:r>
            <a:r>
              <a:rPr sz="2700" b="1" spc="-20" dirty="0">
                <a:solidFill>
                  <a:srgbClr val="001F5F"/>
                </a:solidFill>
                <a:latin typeface="Calibri"/>
                <a:cs typeface="Calibri"/>
              </a:rPr>
              <a:t>-202</a:t>
            </a:r>
            <a:r>
              <a:rPr lang="en-IN" sz="2700" b="1" spc="-20" dirty="0">
                <a:solidFill>
                  <a:srgbClr val="001F5F"/>
                </a:solidFill>
                <a:latin typeface="Calibri"/>
                <a:cs typeface="Calibri"/>
              </a:rPr>
              <a:t>4</a:t>
            </a:r>
            <a:endParaRPr sz="2700" dirty="0">
              <a:latin typeface="Calibri"/>
              <a:cs typeface="Calibri"/>
            </a:endParaRPr>
          </a:p>
        </p:txBody>
      </p:sp>
      <p:pic>
        <p:nvPicPr>
          <p:cNvPr id="12" name="object 12"/>
          <p:cNvPicPr/>
          <p:nvPr/>
        </p:nvPicPr>
        <p:blipFill>
          <a:blip r:embed="rId5" cstate="print"/>
          <a:stretch>
            <a:fillRect/>
          </a:stretch>
        </p:blipFill>
        <p:spPr>
          <a:xfrm>
            <a:off x="11277600" y="180975"/>
            <a:ext cx="714375" cy="1219200"/>
          </a:xfrm>
          <a:prstGeom prst="rect">
            <a:avLst/>
          </a:prstGeom>
        </p:spPr>
      </p:pic>
    </p:spTree>
    <p:extLst>
      <p:ext uri="{BB962C8B-B14F-4D97-AF65-F5344CB8AC3E}">
        <p14:creationId xmlns:p14="http://schemas.microsoft.com/office/powerpoint/2010/main" val="7848927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EF00B8-B10F-8D92-BE07-DA498690167D}"/>
              </a:ext>
            </a:extLst>
          </p:cNvPr>
          <p:cNvSpPr>
            <a:spLocks noGrp="1"/>
          </p:cNvSpPr>
          <p:nvPr>
            <p:ph type="title"/>
          </p:nvPr>
        </p:nvSpPr>
        <p:spPr/>
        <p:txBody>
          <a:bodyPr/>
          <a:lstStyle/>
          <a:p>
            <a:r>
              <a:rPr lang="en-US" b="1">
                <a:latin typeface="Times New Roman"/>
                <a:ea typeface="Calibri Light"/>
                <a:cs typeface="Calibri Light"/>
              </a:rPr>
              <a:t>ABSTRACT</a:t>
            </a:r>
            <a:endParaRPr lang="en-US">
              <a:latin typeface="Times New Roman"/>
              <a:ea typeface="Calibri Light" panose="020F0302020204030204"/>
              <a:cs typeface="Calibri Light" panose="020F0302020204030204"/>
            </a:endParaRPr>
          </a:p>
        </p:txBody>
      </p:sp>
      <p:sp>
        <p:nvSpPr>
          <p:cNvPr id="3" name="Content Placeholder 2">
            <a:extLst>
              <a:ext uri="{FF2B5EF4-FFF2-40B4-BE49-F238E27FC236}">
                <a16:creationId xmlns:a16="http://schemas.microsoft.com/office/drawing/2014/main" id="{44DB0CA4-EFDA-996E-A5D8-7431C6737D07}"/>
              </a:ext>
            </a:extLst>
          </p:cNvPr>
          <p:cNvSpPr>
            <a:spLocks noGrp="1"/>
          </p:cNvSpPr>
          <p:nvPr>
            <p:ph idx="1"/>
          </p:nvPr>
        </p:nvSpPr>
        <p:spPr>
          <a:xfrm>
            <a:off x="807962" y="2132597"/>
            <a:ext cx="9642324" cy="3880773"/>
          </a:xfrm>
        </p:spPr>
        <p:txBody>
          <a:bodyPr vert="horz" lIns="91440" tIns="45720" rIns="91440" bIns="45720" rtlCol="0" anchor="t">
            <a:normAutofit/>
          </a:bodyPr>
          <a:lstStyle/>
          <a:p>
            <a:pPr marL="0" indent="0">
              <a:buNone/>
            </a:pPr>
            <a:r>
              <a:rPr lang="en-US" sz="2400" dirty="0">
                <a:latin typeface="Times New Roman"/>
                <a:ea typeface="Calibri" panose="020F0502020204030204"/>
                <a:cs typeface="Times New Roman"/>
              </a:rPr>
              <a:t>Social media platforms have become vital sources of information during crises and emergencies. Traditionally, crisis management teams relied on manual methods or simple keyword-based filters to sift through social media like Twitter and Facebook  are  becoming crucial channels for information dissemination .Data during emergencies ,the vast amount of data generated during a crisis can be overwhelming.  Developing a system that can autonomously select and label the most informative posts or messages related to a crisis. The goal is to filter out noise and focus on the data that is most likely to provide critical insights for crisis response and management. </a:t>
            </a:r>
            <a:endParaRPr lang="en-US" sz="2400" dirty="0">
              <a:latin typeface="Times New Roman"/>
              <a:ea typeface="Calibri" panose="020F0502020204030204"/>
              <a:cs typeface="Calibri"/>
            </a:endParaRPr>
          </a:p>
        </p:txBody>
      </p:sp>
    </p:spTree>
    <p:extLst>
      <p:ext uri="{BB962C8B-B14F-4D97-AF65-F5344CB8AC3E}">
        <p14:creationId xmlns:p14="http://schemas.microsoft.com/office/powerpoint/2010/main" val="30397854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B4D865-6FD8-2754-27C7-885B5DA32F05}"/>
              </a:ext>
            </a:extLst>
          </p:cNvPr>
          <p:cNvSpPr>
            <a:spLocks noGrp="1"/>
          </p:cNvSpPr>
          <p:nvPr>
            <p:ph type="title"/>
          </p:nvPr>
        </p:nvSpPr>
        <p:spPr>
          <a:xfrm>
            <a:off x="838200" y="365125"/>
            <a:ext cx="10515600" cy="799676"/>
          </a:xfrm>
        </p:spPr>
        <p:txBody>
          <a:bodyPr>
            <a:normAutofit fontScale="90000"/>
          </a:bodyPr>
          <a:lstStyle/>
          <a:p>
            <a:r>
              <a:rPr lang="en-US" sz="5400" b="1">
                <a:latin typeface="Times New Roman"/>
                <a:cs typeface="Calibri Light"/>
              </a:rPr>
              <a:t>INTRODUCTION</a:t>
            </a:r>
          </a:p>
        </p:txBody>
      </p:sp>
      <p:sp>
        <p:nvSpPr>
          <p:cNvPr id="3" name="Content Placeholder 2">
            <a:extLst>
              <a:ext uri="{FF2B5EF4-FFF2-40B4-BE49-F238E27FC236}">
                <a16:creationId xmlns:a16="http://schemas.microsoft.com/office/drawing/2014/main" id="{5E6EB5EB-21AB-0A83-A13F-AED55944D2B8}"/>
              </a:ext>
            </a:extLst>
          </p:cNvPr>
          <p:cNvSpPr>
            <a:spLocks noGrp="1"/>
          </p:cNvSpPr>
          <p:nvPr>
            <p:ph idx="1"/>
          </p:nvPr>
        </p:nvSpPr>
        <p:spPr>
          <a:xfrm>
            <a:off x="838200" y="1714737"/>
            <a:ext cx="11078285" cy="4981761"/>
          </a:xfrm>
        </p:spPr>
        <p:txBody>
          <a:bodyPr vert="horz" lIns="91440" tIns="45720" rIns="91440" bIns="45720" rtlCol="0" anchor="t">
            <a:normAutofit/>
          </a:bodyPr>
          <a:lstStyle/>
          <a:p>
            <a:r>
              <a:rPr lang="en-US" sz="1700">
                <a:latin typeface="Times New Roman"/>
                <a:ea typeface="Calibri"/>
                <a:cs typeface="Times New Roman"/>
              </a:rPr>
              <a:t>Social media platforms have become vital sources of information during crises and emergencies, they allow for real-time communication and information sharing among a wide range of users .During crisis, timely and accurate information is paramount for effective response and management.</a:t>
            </a:r>
          </a:p>
          <a:p>
            <a:r>
              <a:rPr lang="en-US" sz="1700">
                <a:latin typeface="Times New Roman"/>
                <a:ea typeface="Calibri"/>
                <a:cs typeface="Times New Roman"/>
              </a:rPr>
              <a:t>The use of social media (SM) in crisis management gained prominence in the early 21st century, with platforms like Twitter and Facebook becoming crucial channels for information dissemination during emergencies. Such data would enable emergency operations centers to act and organize the rescue and response.</a:t>
            </a:r>
          </a:p>
          <a:p>
            <a:r>
              <a:rPr lang="en-US" sz="1700">
                <a:latin typeface="Times New Roman"/>
                <a:ea typeface="Calibri"/>
                <a:cs typeface="Times New Roman"/>
              </a:rPr>
              <a:t>Crisis management teams relied on manual methods or simple keyword-based filters to sift through social media </a:t>
            </a:r>
            <a:r>
              <a:rPr lang="en-US" sz="1700" err="1">
                <a:latin typeface="Times New Roman"/>
                <a:ea typeface="Calibri"/>
                <a:cs typeface="Times New Roman"/>
              </a:rPr>
              <a:t>data.the</a:t>
            </a:r>
            <a:r>
              <a:rPr lang="en-US" sz="1700">
                <a:latin typeface="Times New Roman"/>
                <a:ea typeface="Calibri"/>
                <a:cs typeface="Times New Roman"/>
              </a:rPr>
              <a:t> vast amount of data generated during a crisis can be overwhelming and it was time-consuming and less efficient during emergencies.</a:t>
            </a:r>
          </a:p>
          <a:p>
            <a:r>
              <a:rPr lang="en-US" sz="1700">
                <a:latin typeface="Times New Roman"/>
                <a:ea typeface="Calibri"/>
                <a:cs typeface="Times New Roman"/>
              </a:rPr>
              <a:t>The goal is to filter out noise and focus on the data that is most likely to provide critical insights for crisis response and management. </a:t>
            </a:r>
          </a:p>
          <a:p>
            <a:r>
              <a:rPr lang="en-US" sz="1700">
                <a:latin typeface="Times New Roman"/>
                <a:ea typeface="Calibri"/>
                <a:cs typeface="Times New Roman"/>
              </a:rPr>
              <a:t>By leveraging machine learning algorithms, this approach can dynamically select and label data points that are most likely to provide valuable insights for crisis response.</a:t>
            </a:r>
          </a:p>
          <a:p>
            <a:r>
              <a:rPr lang="en-US" sz="1700">
                <a:latin typeface="Times New Roman"/>
                <a:ea typeface="Calibri"/>
                <a:cs typeface="Times New Roman"/>
              </a:rPr>
              <a:t>This enables crisis management teams to focus their attention on the most relevant information, improving the speed and effectiveness of their response efforts.</a:t>
            </a:r>
          </a:p>
          <a:p>
            <a:endParaRPr lang="en-US" sz="1700">
              <a:latin typeface="Times New Roman"/>
              <a:ea typeface="Calibri"/>
              <a:cs typeface="Times New Roman"/>
            </a:endParaRPr>
          </a:p>
          <a:p>
            <a:endParaRPr lang="en-US" sz="1700">
              <a:latin typeface="Times New Roman"/>
              <a:ea typeface="Calibri"/>
              <a:cs typeface="Times New Roman"/>
            </a:endParaRPr>
          </a:p>
          <a:p>
            <a:endParaRPr lang="en-US" sz="1700">
              <a:latin typeface="Times New Roman"/>
              <a:ea typeface="Calibri"/>
              <a:cs typeface="Times New Roman"/>
            </a:endParaRPr>
          </a:p>
          <a:p>
            <a:endParaRPr lang="en-US" sz="1700">
              <a:ea typeface="Calibri" panose="020F0502020204030204"/>
              <a:cs typeface="Calibri"/>
            </a:endParaRPr>
          </a:p>
          <a:p>
            <a:endParaRPr lang="en-US" sz="1700">
              <a:ea typeface="Calibri" panose="020F0502020204030204"/>
              <a:cs typeface="Calibri"/>
            </a:endParaRPr>
          </a:p>
        </p:txBody>
      </p:sp>
    </p:spTree>
    <p:extLst>
      <p:ext uri="{BB962C8B-B14F-4D97-AF65-F5344CB8AC3E}">
        <p14:creationId xmlns:p14="http://schemas.microsoft.com/office/powerpoint/2010/main" val="29536829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D4D305-A0F4-F5AE-3F40-3B63822045AE}"/>
              </a:ext>
            </a:extLst>
          </p:cNvPr>
          <p:cNvSpPr>
            <a:spLocks noGrp="1"/>
          </p:cNvSpPr>
          <p:nvPr>
            <p:ph type="title"/>
          </p:nvPr>
        </p:nvSpPr>
        <p:spPr/>
        <p:txBody>
          <a:bodyPr/>
          <a:lstStyle/>
          <a:p>
            <a:r>
              <a:rPr lang="en-US" b="1">
                <a:latin typeface="Times New Roman"/>
                <a:ea typeface="Calibri Light"/>
                <a:cs typeface="Calibri Light"/>
              </a:rPr>
              <a:t>LITERATURE SURVEY</a:t>
            </a:r>
            <a:endParaRPr lang="en-US" b="1">
              <a:latin typeface="Times New Roman"/>
              <a:cs typeface="Times New Roman"/>
            </a:endParaRPr>
          </a:p>
        </p:txBody>
      </p:sp>
      <p:sp>
        <p:nvSpPr>
          <p:cNvPr id="3" name="Content Placeholder 2">
            <a:extLst>
              <a:ext uri="{FF2B5EF4-FFF2-40B4-BE49-F238E27FC236}">
                <a16:creationId xmlns:a16="http://schemas.microsoft.com/office/drawing/2014/main" id="{ACFF379C-1522-0CFD-8CE4-62F987819390}"/>
              </a:ext>
            </a:extLst>
          </p:cNvPr>
          <p:cNvSpPr>
            <a:spLocks noGrp="1"/>
          </p:cNvSpPr>
          <p:nvPr>
            <p:ph idx="1"/>
          </p:nvPr>
        </p:nvSpPr>
        <p:spPr/>
        <p:txBody>
          <a:bodyPr vert="horz" lIns="91440" tIns="45720" rIns="91440" bIns="45720" rtlCol="0" anchor="t">
            <a:normAutofit fontScale="85000" lnSpcReduction="10000"/>
          </a:bodyPr>
          <a:lstStyle/>
          <a:p>
            <a:pPr algn="just"/>
            <a:r>
              <a:rPr lang="en-US" sz="2000">
                <a:latin typeface="Times New Roman"/>
                <a:cs typeface="Times New Roman"/>
              </a:rPr>
              <a:t>A prototype-based classification approach operates on data items mapped to a vector representation (e.g., vector space model for text data). Data points are classified via prototypes considering similarity measures. Prototypes are adapted based on items related/similar to them. A Rocchio classifier [37] is an example of a single prototype-based classifier. It distinguishes between two classes, e.g., “relevant” and “irrelevant”. In real world-scenarios, due to the nature of the data, it is often not possible to describe the data with a single prototype-based classifier. Multiple prototype classifiers (i.e., several prototypes) are needed. </a:t>
            </a:r>
            <a:endParaRPr lang="en-US" sz="2000">
              <a:latin typeface="Times New Roman"/>
              <a:ea typeface="Calibri" panose="020F0502020204030204"/>
              <a:cs typeface="Calibri" panose="020F0502020204030204"/>
            </a:endParaRPr>
          </a:p>
          <a:p>
            <a:pPr algn="just"/>
            <a:r>
              <a:rPr lang="en-US" sz="2000">
                <a:latin typeface="Times New Roman"/>
                <a:cs typeface="Times New Roman"/>
              </a:rPr>
              <a:t>Self-organizing maps (SOM) introduced by Kohonen [32] are an unsupervised version of prototype-based classification, also known as LVQ. In this case, prototypes are initialized (e.g., randomized) and adapted. SOM was also used for SM analysis in the context of crisis management to identify important hotspots [50]. LVQ has been applied to several areas, e.g., robotics, pattern recognition, image processing, text classification etc. [20], [32], [62]. LVQ - in the context of similarity representation, rather than vector-based representation - is analyzed by Hammer et al. [25]. </a:t>
            </a:r>
            <a:endParaRPr lang="en-US" sz="2000">
              <a:latin typeface="Times New Roman"/>
              <a:ea typeface="Calibri"/>
              <a:cs typeface="Calibri"/>
            </a:endParaRPr>
          </a:p>
          <a:p>
            <a:endParaRPr lang="en-US">
              <a:latin typeface="Times New Roman"/>
              <a:ea typeface="Calibri"/>
              <a:cs typeface="Calibri"/>
            </a:endParaRPr>
          </a:p>
        </p:txBody>
      </p:sp>
    </p:spTree>
    <p:extLst>
      <p:ext uri="{BB962C8B-B14F-4D97-AF65-F5344CB8AC3E}">
        <p14:creationId xmlns:p14="http://schemas.microsoft.com/office/powerpoint/2010/main" val="15957599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7AA337-C54A-BB9C-4A41-D4472F043FD9}"/>
              </a:ext>
            </a:extLst>
          </p:cNvPr>
          <p:cNvSpPr>
            <a:spLocks noGrp="1"/>
          </p:cNvSpPr>
          <p:nvPr>
            <p:ph type="title"/>
          </p:nvPr>
        </p:nvSpPr>
        <p:spPr>
          <a:xfrm>
            <a:off x="684552" y="59245"/>
            <a:ext cx="11018520" cy="1434415"/>
          </a:xfrm>
        </p:spPr>
        <p:txBody>
          <a:bodyPr anchor="b">
            <a:normAutofit/>
          </a:bodyPr>
          <a:lstStyle/>
          <a:p>
            <a:r>
              <a:rPr lang="en-US" sz="5400" b="1">
                <a:latin typeface="Times New Roman"/>
                <a:cs typeface="Calibri Light"/>
              </a:rPr>
              <a:t>EXISTING METHODOLOGY</a:t>
            </a:r>
            <a:r>
              <a:rPr lang="en-US" sz="5400">
                <a:cs typeface="Calibri Light"/>
              </a:rPr>
              <a:t> </a:t>
            </a:r>
          </a:p>
        </p:txBody>
      </p:sp>
      <p:sp>
        <p:nvSpPr>
          <p:cNvPr id="3" name="Content Placeholder 2">
            <a:extLst>
              <a:ext uri="{FF2B5EF4-FFF2-40B4-BE49-F238E27FC236}">
                <a16:creationId xmlns:a16="http://schemas.microsoft.com/office/drawing/2014/main" id="{331EBCCC-D480-C9E4-33FF-CA3AA3C35874}"/>
              </a:ext>
            </a:extLst>
          </p:cNvPr>
          <p:cNvSpPr>
            <a:spLocks noGrp="1"/>
          </p:cNvSpPr>
          <p:nvPr>
            <p:ph idx="1"/>
          </p:nvPr>
        </p:nvSpPr>
        <p:spPr>
          <a:xfrm>
            <a:off x="572493" y="1678322"/>
            <a:ext cx="11234098" cy="4624225"/>
          </a:xfrm>
        </p:spPr>
        <p:txBody>
          <a:bodyPr vert="horz" lIns="91440" tIns="45720" rIns="91440" bIns="45720" rtlCol="0" anchor="t">
            <a:normAutofit lnSpcReduction="10000"/>
          </a:bodyPr>
          <a:lstStyle/>
          <a:p>
            <a:pPr marL="0" indent="0">
              <a:buNone/>
            </a:pPr>
            <a:r>
              <a:rPr lang="en-US" sz="2000">
                <a:latin typeface="Times New Roman"/>
                <a:cs typeface="Times New Roman"/>
              </a:rPr>
              <a:t>The traditional system heavily relies on manual efforts for data collection, preprocessing, analysis, and decision-making, which can be </a:t>
            </a:r>
            <a:r>
              <a:rPr lang="en-US" sz="2000" err="1">
                <a:latin typeface="Times New Roman"/>
                <a:cs typeface="Times New Roman"/>
              </a:rPr>
              <a:t>labour-intensive</a:t>
            </a:r>
            <a:r>
              <a:rPr lang="en-US" sz="2000">
                <a:latin typeface="Times New Roman"/>
                <a:cs typeface="Times New Roman"/>
              </a:rPr>
              <a:t>, time-consuming, and potentially less accurate compared to automated systems powered by machine learning and natural language processing techniques. In addition, they suffer from inefficiency, lack of scalability, limited coverage, subjectivity, delayed insights, incapability to handle multimodal data, absence of predictive analytics, and potential security and privacy challenges</a:t>
            </a:r>
          </a:p>
          <a:p>
            <a:pPr marL="0" indent="0">
              <a:buNone/>
            </a:pPr>
            <a:r>
              <a:rPr lang="en-US" sz="2500" b="1">
                <a:latin typeface="Times New Roman"/>
                <a:ea typeface="Calibri"/>
                <a:cs typeface="Calibri"/>
              </a:rPr>
              <a:t>DISADVANTAGES:</a:t>
            </a:r>
          </a:p>
          <a:p>
            <a:r>
              <a:rPr lang="en-US" sz="2000">
                <a:latin typeface="Times New Roman"/>
                <a:ea typeface="Calibri"/>
                <a:cs typeface="Calibri"/>
              </a:rPr>
              <a:t>Manual Analysis</a:t>
            </a:r>
          </a:p>
          <a:p>
            <a:pPr algn="just"/>
            <a:r>
              <a:rPr lang="en-IN" sz="2000">
                <a:latin typeface="Times New Roman"/>
                <a:ea typeface="Calibri"/>
                <a:cs typeface="Times New Roman"/>
              </a:rPr>
              <a:t>Lack of Scalability: </a:t>
            </a:r>
          </a:p>
          <a:p>
            <a:pPr algn="just"/>
            <a:r>
              <a:rPr lang="en-IN" sz="2000">
                <a:latin typeface="Times New Roman"/>
                <a:ea typeface="Calibri"/>
                <a:cs typeface="Times New Roman"/>
              </a:rPr>
              <a:t>Security and Privacy Concerns:</a:t>
            </a:r>
          </a:p>
          <a:p>
            <a:pPr algn="just"/>
            <a:r>
              <a:rPr lang="en-IN" sz="2000">
                <a:latin typeface="Times New Roman"/>
                <a:ea typeface="Calibri"/>
                <a:cs typeface="Calibri"/>
              </a:rPr>
              <a:t>Lack of real time analysis</a:t>
            </a:r>
          </a:p>
          <a:p>
            <a:pPr algn="just"/>
            <a:r>
              <a:rPr lang="en-IN" sz="2000">
                <a:latin typeface="Times New Roman"/>
                <a:ea typeface="Calibri"/>
                <a:cs typeface="Calibri"/>
              </a:rPr>
              <a:t>Absence of Predictive analysis</a:t>
            </a:r>
          </a:p>
          <a:p>
            <a:pPr algn="just"/>
            <a:r>
              <a:rPr lang="en-IN" sz="2000">
                <a:latin typeface="Times New Roman"/>
                <a:ea typeface="Calibri"/>
                <a:cs typeface="Calibri"/>
              </a:rPr>
              <a:t>Security and privacy concerns</a:t>
            </a:r>
          </a:p>
          <a:p>
            <a:pPr algn="just">
              <a:buNone/>
            </a:pPr>
            <a:endParaRPr lang="en-IN">
              <a:ea typeface="Calibri" panose="020F0502020204030204"/>
              <a:cs typeface="Calibri" panose="020F0502020204030204"/>
            </a:endParaRPr>
          </a:p>
          <a:p>
            <a:pPr algn="just">
              <a:buNone/>
            </a:pPr>
            <a:endParaRPr lang="en-IN">
              <a:ea typeface="Calibri" panose="020F0502020204030204"/>
              <a:cs typeface="Calibri" panose="020F0502020204030204"/>
            </a:endParaRPr>
          </a:p>
        </p:txBody>
      </p:sp>
    </p:spTree>
    <p:extLst>
      <p:ext uri="{BB962C8B-B14F-4D97-AF65-F5344CB8AC3E}">
        <p14:creationId xmlns:p14="http://schemas.microsoft.com/office/powerpoint/2010/main" val="8306936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A47EB2-2BF1-BC99-EECD-81C3DAE78C00}"/>
              </a:ext>
            </a:extLst>
          </p:cNvPr>
          <p:cNvSpPr>
            <a:spLocks noGrp="1"/>
          </p:cNvSpPr>
          <p:nvPr>
            <p:ph type="title"/>
          </p:nvPr>
        </p:nvSpPr>
        <p:spPr>
          <a:xfrm>
            <a:off x="355629" y="4479"/>
            <a:ext cx="8082153" cy="842011"/>
          </a:xfrm>
        </p:spPr>
        <p:txBody>
          <a:bodyPr>
            <a:normAutofit/>
          </a:bodyPr>
          <a:lstStyle/>
          <a:p>
            <a:r>
              <a:rPr lang="en-US" b="1">
                <a:latin typeface="Times New Roman"/>
                <a:cs typeface="Calibri Light"/>
              </a:rPr>
              <a:t>PROPOSED METHODOLGY</a:t>
            </a:r>
            <a:endParaRPr lang="en-US" b="1">
              <a:latin typeface="Times New Roman"/>
            </a:endParaRPr>
          </a:p>
        </p:txBody>
      </p:sp>
      <p:sp>
        <p:nvSpPr>
          <p:cNvPr id="3" name="Content Placeholder 2">
            <a:extLst>
              <a:ext uri="{FF2B5EF4-FFF2-40B4-BE49-F238E27FC236}">
                <a16:creationId xmlns:a16="http://schemas.microsoft.com/office/drawing/2014/main" id="{71CFDC59-3AE7-32A0-1E98-26FAD40B8097}"/>
              </a:ext>
            </a:extLst>
          </p:cNvPr>
          <p:cNvSpPr>
            <a:spLocks noGrp="1"/>
          </p:cNvSpPr>
          <p:nvPr>
            <p:ph idx="1"/>
          </p:nvPr>
        </p:nvSpPr>
        <p:spPr>
          <a:xfrm>
            <a:off x="357274" y="857886"/>
            <a:ext cx="9068851" cy="5014256"/>
          </a:xfrm>
        </p:spPr>
        <p:txBody>
          <a:bodyPr vert="horz" lIns="91440" tIns="45720" rIns="91440" bIns="45720" rtlCol="0" anchor="t">
            <a:noAutofit/>
          </a:bodyPr>
          <a:lstStyle/>
          <a:p>
            <a:pPr marL="0" indent="0">
              <a:buNone/>
            </a:pPr>
            <a:r>
              <a:rPr lang="en-US" sz="2000" b="1" dirty="0">
                <a:latin typeface="Times New Roman"/>
                <a:cs typeface="Calibri"/>
              </a:rPr>
              <a:t>OBJECTIVES:</a:t>
            </a:r>
          </a:p>
          <a:p>
            <a:pPr marL="0" indent="0">
              <a:buNone/>
            </a:pPr>
            <a:r>
              <a:rPr lang="en-IN" sz="2000" dirty="0">
                <a:latin typeface="Times New Roman"/>
                <a:cs typeface="Times New Roman"/>
              </a:rPr>
              <a:t>The project aims to </a:t>
            </a:r>
            <a:r>
              <a:rPr lang="en-IN" sz="2000" dirty="0" err="1">
                <a:latin typeface="Times New Roman"/>
                <a:cs typeface="Times New Roman"/>
              </a:rPr>
              <a:t>analyze</a:t>
            </a:r>
            <a:r>
              <a:rPr lang="en-IN" sz="2000" dirty="0">
                <a:latin typeface="Times New Roman"/>
                <a:cs typeface="Times New Roman"/>
              </a:rPr>
              <a:t> social media data to unveil patterns and trends, enabling timely decision-making during crisis situations. It focuses on predicting the location of tweets based on their content.</a:t>
            </a:r>
            <a:endParaRPr lang="en-US" dirty="0">
              <a:ea typeface="Calibri"/>
              <a:cs typeface="Calibri"/>
            </a:endParaRPr>
          </a:p>
          <a:p>
            <a:pPr algn="just">
              <a:buNone/>
            </a:pPr>
            <a:r>
              <a:rPr lang="en-IN" sz="2500" b="1" dirty="0">
                <a:latin typeface="Times New Roman"/>
                <a:cs typeface="Times New Roman"/>
              </a:rPr>
              <a:t>ADVANTANGES:</a:t>
            </a:r>
          </a:p>
          <a:p>
            <a:pPr algn="just"/>
            <a:r>
              <a:rPr lang="en-IN" sz="2000" dirty="0">
                <a:latin typeface="Times New Roman"/>
                <a:cs typeface="Times New Roman"/>
              </a:rPr>
              <a:t> Graphical User Interface (GUI):</a:t>
            </a:r>
            <a:endParaRPr lang="en-IN" sz="2000" dirty="0">
              <a:ea typeface="Calibri" panose="020F0502020204030204"/>
              <a:cs typeface="Calibri" panose="020F0502020204030204"/>
            </a:endParaRPr>
          </a:p>
          <a:p>
            <a:pPr algn="just"/>
            <a:r>
              <a:rPr lang="en-IN" sz="2000" dirty="0">
                <a:latin typeface="Times New Roman"/>
                <a:cs typeface="Times New Roman"/>
              </a:rPr>
              <a:t> Data Preprocessing:</a:t>
            </a:r>
            <a:endParaRPr lang="en-IN" sz="2000" dirty="0">
              <a:latin typeface="Times New Roman"/>
              <a:ea typeface="Calibri" panose="020F0502020204030204"/>
              <a:cs typeface="Calibri" panose="020F0502020204030204"/>
            </a:endParaRPr>
          </a:p>
          <a:p>
            <a:pPr algn="just"/>
            <a:r>
              <a:rPr lang="en-IN" sz="2000" dirty="0">
                <a:latin typeface="Times New Roman"/>
                <a:cs typeface="Times New Roman"/>
              </a:rPr>
              <a:t> Feature Extraction</a:t>
            </a:r>
          </a:p>
          <a:p>
            <a:pPr algn="just"/>
            <a:r>
              <a:rPr lang="en-IN" sz="2000" dirty="0">
                <a:latin typeface="Times New Roman"/>
                <a:cs typeface="Times New Roman"/>
              </a:rPr>
              <a:t>Machine Learning Model</a:t>
            </a:r>
          </a:p>
          <a:p>
            <a:pPr algn="just"/>
            <a:r>
              <a:rPr lang="en-IN" sz="2000" dirty="0">
                <a:latin typeface="Times New Roman"/>
                <a:cs typeface="Times New Roman"/>
              </a:rPr>
              <a:t>Persistence and Optimization</a:t>
            </a:r>
          </a:p>
          <a:p>
            <a:pPr algn="just">
              <a:buNone/>
            </a:pPr>
            <a:endParaRPr lang="en-IN" sz="2000" b="1" dirty="0">
              <a:latin typeface="Times New Roman"/>
              <a:cs typeface="Times New Roman"/>
            </a:endParaRPr>
          </a:p>
        </p:txBody>
      </p:sp>
      <p:pic>
        <p:nvPicPr>
          <p:cNvPr id="4" name="Picture 4" descr="A picture containing diagram&#10;&#10;Description automatically generated">
            <a:extLst>
              <a:ext uri="{FF2B5EF4-FFF2-40B4-BE49-F238E27FC236}">
                <a16:creationId xmlns:a16="http://schemas.microsoft.com/office/drawing/2014/main" id="{3C36AF6C-C71C-F795-4498-80CB777EBA66}"/>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9551706" y="780738"/>
            <a:ext cx="2217062" cy="3022703"/>
          </a:xfrm>
          <a:prstGeom prst="rect">
            <a:avLst/>
          </a:prstGeom>
        </p:spPr>
      </p:pic>
    </p:spTree>
    <p:extLst>
      <p:ext uri="{BB962C8B-B14F-4D97-AF65-F5344CB8AC3E}">
        <p14:creationId xmlns:p14="http://schemas.microsoft.com/office/powerpoint/2010/main" val="12048796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8D8E85-3065-DCFF-5F5B-8A5C4DC73CCF}"/>
              </a:ext>
            </a:extLst>
          </p:cNvPr>
          <p:cNvSpPr>
            <a:spLocks noGrp="1"/>
          </p:cNvSpPr>
          <p:nvPr>
            <p:ph type="title" idx="4294967295"/>
          </p:nvPr>
        </p:nvSpPr>
        <p:spPr>
          <a:xfrm>
            <a:off x="0" y="184150"/>
            <a:ext cx="10515600" cy="1506538"/>
          </a:xfrm>
          <a:prstGeom prst="ellipse">
            <a:avLst/>
          </a:prstGeom>
        </p:spPr>
        <p:txBody>
          <a:bodyPr vert="horz" lIns="91440" tIns="45720" rIns="91440" bIns="45720" rtlCol="0" anchor="ctr">
            <a:normAutofit/>
          </a:bodyPr>
          <a:lstStyle/>
          <a:p>
            <a:r>
              <a:rPr lang="en-US" sz="5200" b="1" kern="1200">
                <a:latin typeface="Times New Roman"/>
                <a:cs typeface="Times New Roman"/>
              </a:rPr>
              <a:t>ARCHITECTURE:</a:t>
            </a:r>
          </a:p>
        </p:txBody>
      </p:sp>
      <p:pic>
        <p:nvPicPr>
          <p:cNvPr id="4" name="Picture 3" descr="A diagram of a process&#10;&#10;Description automatically generated">
            <a:extLst>
              <a:ext uri="{FF2B5EF4-FFF2-40B4-BE49-F238E27FC236}">
                <a16:creationId xmlns:a16="http://schemas.microsoft.com/office/drawing/2014/main" id="{D7B9D7E1-7057-54A0-82E1-1675191EC6BA}"/>
              </a:ext>
            </a:extLst>
          </p:cNvPr>
          <p:cNvPicPr>
            <a:picLocks noChangeAspect="1"/>
          </p:cNvPicPr>
          <p:nvPr/>
        </p:nvPicPr>
        <p:blipFill>
          <a:blip r:embed="rId2"/>
          <a:stretch>
            <a:fillRect/>
          </a:stretch>
        </p:blipFill>
        <p:spPr>
          <a:xfrm>
            <a:off x="1624383" y="1512722"/>
            <a:ext cx="9240688" cy="4783007"/>
          </a:xfrm>
          <a:prstGeom prst="rect">
            <a:avLst/>
          </a:prstGeom>
        </p:spPr>
      </p:pic>
    </p:spTree>
    <p:extLst>
      <p:ext uri="{BB962C8B-B14F-4D97-AF65-F5344CB8AC3E}">
        <p14:creationId xmlns:p14="http://schemas.microsoft.com/office/powerpoint/2010/main" val="34742783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37F711-4CFB-EB77-553E-D962659163EF}"/>
              </a:ext>
            </a:extLst>
          </p:cNvPr>
          <p:cNvSpPr>
            <a:spLocks noGrp="1"/>
          </p:cNvSpPr>
          <p:nvPr>
            <p:ph type="title"/>
          </p:nvPr>
        </p:nvSpPr>
        <p:spPr>
          <a:xfrm>
            <a:off x="373727" y="224998"/>
            <a:ext cx="9549335" cy="1325563"/>
          </a:xfrm>
        </p:spPr>
        <p:txBody>
          <a:bodyPr>
            <a:normAutofit/>
          </a:bodyPr>
          <a:lstStyle/>
          <a:p>
            <a:r>
              <a:rPr lang="en-US" sz="3600" b="1">
                <a:latin typeface="Times New Roman"/>
                <a:cs typeface="Calibri Light"/>
              </a:rPr>
              <a:t>SOFTWARE </a:t>
            </a:r>
            <a:r>
              <a:rPr lang="en-US" sz="3200" b="1">
                <a:latin typeface="Times New Roman"/>
                <a:cs typeface="Calibri Light"/>
              </a:rPr>
              <a:t>REQUIREMENT SPECIFICATIONS</a:t>
            </a:r>
          </a:p>
        </p:txBody>
      </p:sp>
      <p:sp>
        <p:nvSpPr>
          <p:cNvPr id="3" name="Content Placeholder 2">
            <a:extLst>
              <a:ext uri="{FF2B5EF4-FFF2-40B4-BE49-F238E27FC236}">
                <a16:creationId xmlns:a16="http://schemas.microsoft.com/office/drawing/2014/main" id="{EE8997CC-9090-3FD2-A576-AD218EB28A1F}"/>
              </a:ext>
            </a:extLst>
          </p:cNvPr>
          <p:cNvSpPr>
            <a:spLocks noGrp="1"/>
          </p:cNvSpPr>
          <p:nvPr>
            <p:ph idx="1"/>
          </p:nvPr>
        </p:nvSpPr>
        <p:spPr>
          <a:xfrm>
            <a:off x="86006" y="1496381"/>
            <a:ext cx="8880964" cy="3846457"/>
          </a:xfrm>
        </p:spPr>
        <p:txBody>
          <a:bodyPr vert="horz" lIns="91440" tIns="45720" rIns="91440" bIns="45720" rtlCol="0" anchor="ctr">
            <a:normAutofit/>
          </a:bodyPr>
          <a:lstStyle/>
          <a:p>
            <a:pPr algn="just"/>
            <a:r>
              <a:rPr lang="en-US">
                <a:latin typeface="Times New Roman"/>
                <a:ea typeface="+mn-lt"/>
                <a:cs typeface="Times New Roman"/>
              </a:rPr>
              <a:t>Python IDLE 3.7 version (or)</a:t>
            </a:r>
            <a:endParaRPr lang="en-US">
              <a:latin typeface="Times New Roman"/>
              <a:ea typeface="+mn-lt"/>
              <a:cs typeface="+mn-lt"/>
            </a:endParaRPr>
          </a:p>
          <a:p>
            <a:pPr algn="just"/>
            <a:r>
              <a:rPr lang="en-US">
                <a:latin typeface="Times New Roman"/>
                <a:ea typeface="+mn-lt"/>
                <a:cs typeface="Times New Roman"/>
              </a:rPr>
              <a:t>Anaconda 3.7 (or)</a:t>
            </a:r>
            <a:endParaRPr lang="en-US">
              <a:latin typeface="Times New Roman"/>
              <a:cs typeface="Times New Roman"/>
            </a:endParaRPr>
          </a:p>
          <a:p>
            <a:pPr algn="just"/>
            <a:r>
              <a:rPr lang="en-US">
                <a:latin typeface="Times New Roman"/>
                <a:ea typeface="+mn-lt"/>
                <a:cs typeface="Times New Roman"/>
              </a:rPr>
              <a:t>Jupiter (or)</a:t>
            </a:r>
            <a:endParaRPr lang="en-US">
              <a:latin typeface="Times New Roman"/>
              <a:cs typeface="Times New Roman"/>
            </a:endParaRPr>
          </a:p>
          <a:p>
            <a:pPr algn="just"/>
            <a:r>
              <a:rPr lang="en-US">
                <a:latin typeface="Times New Roman"/>
                <a:ea typeface="+mn-lt"/>
                <a:cs typeface="Times New Roman"/>
              </a:rPr>
              <a:t>Google </a:t>
            </a:r>
            <a:r>
              <a:rPr lang="en-US" err="1">
                <a:latin typeface="Times New Roman"/>
                <a:ea typeface="+mn-lt"/>
                <a:cs typeface="Times New Roman"/>
              </a:rPr>
              <a:t>colab</a:t>
            </a:r>
            <a:endParaRPr lang="en-US">
              <a:latin typeface="Times New Roman"/>
              <a:cs typeface="Times New Roman"/>
            </a:endParaRPr>
          </a:p>
          <a:p>
            <a:endParaRPr lang="en-US" sz="2500">
              <a:latin typeface="Times New Roman"/>
              <a:ea typeface="Calibri"/>
              <a:cs typeface="Calibri"/>
            </a:endParaRPr>
          </a:p>
          <a:p>
            <a:pPr marL="0" indent="0">
              <a:buNone/>
            </a:pPr>
            <a:br>
              <a:rPr lang="en-US" sz="2400"/>
            </a:br>
            <a:endParaRPr lang="en-US" sz="3600">
              <a:cs typeface="Calibri" panose="020F0502020204030204"/>
            </a:endParaRPr>
          </a:p>
        </p:txBody>
      </p:sp>
      <p:pic>
        <p:nvPicPr>
          <p:cNvPr id="4" name="Picture 4" descr="Graphical user interface&#10;&#10;Description automatically generated">
            <a:extLst>
              <a:ext uri="{FF2B5EF4-FFF2-40B4-BE49-F238E27FC236}">
                <a16:creationId xmlns:a16="http://schemas.microsoft.com/office/drawing/2014/main" id="{8F07D86F-1E5B-1028-FB00-156D4BB49213}"/>
              </a:ext>
            </a:extLst>
          </p:cNvPr>
          <p:cNvPicPr>
            <a:picLocks noChangeAspect="1"/>
          </p:cNvPicPr>
          <p:nvPr/>
        </p:nvPicPr>
        <p:blipFill rotWithShape="1">
          <a:blip r:embed="rId2">
            <a:alphaModFix/>
            <a:extLst>
              <a:ext uri="{837473B0-CC2E-450A-ABE3-18F120FF3D39}">
                <a1611:picAttrSrcUrl xmlns:a1611="http://schemas.microsoft.com/office/drawing/2016/11/main" r:id="rId3"/>
              </a:ext>
            </a:extLst>
          </a:blip>
          <a:srcRect l="37104" r="6558" b="5"/>
          <a:stretch/>
        </p:blipFill>
        <p:spPr>
          <a:xfrm>
            <a:off x="9030743" y="2474254"/>
            <a:ext cx="1912560" cy="1909489"/>
          </a:xfrm>
          <a:custGeom>
            <a:avLst/>
            <a:gdLst/>
            <a:ahLst/>
            <a:cxnLst/>
            <a:rect l="l" t="t" r="r" b="b"/>
            <a:pathLst>
              <a:path w="6057610" h="6057610">
                <a:moveTo>
                  <a:pt x="3028805" y="0"/>
                </a:moveTo>
                <a:cubicBezTo>
                  <a:pt x="4701568" y="0"/>
                  <a:pt x="6057610" y="1356042"/>
                  <a:pt x="6057610" y="3028805"/>
                </a:cubicBezTo>
                <a:cubicBezTo>
                  <a:pt x="6057610" y="4701568"/>
                  <a:pt x="4701568" y="6057610"/>
                  <a:pt x="3028805" y="6057610"/>
                </a:cubicBezTo>
                <a:cubicBezTo>
                  <a:pt x="1356042" y="6057610"/>
                  <a:pt x="0" y="4701568"/>
                  <a:pt x="0" y="3028805"/>
                </a:cubicBezTo>
                <a:cubicBezTo>
                  <a:pt x="0" y="1356042"/>
                  <a:pt x="1356042" y="0"/>
                  <a:pt x="3028805" y="0"/>
                </a:cubicBezTo>
                <a:close/>
              </a:path>
            </a:pathLst>
          </a:custGeom>
          <a:effectLst>
            <a:softEdge rad="0"/>
          </a:effectLst>
        </p:spPr>
      </p:pic>
      <p:sp>
        <p:nvSpPr>
          <p:cNvPr id="5" name="TextBox 4">
            <a:extLst>
              <a:ext uri="{FF2B5EF4-FFF2-40B4-BE49-F238E27FC236}">
                <a16:creationId xmlns:a16="http://schemas.microsoft.com/office/drawing/2014/main" id="{277A9CEB-C8E8-0523-7547-1E4BDD1AFA80}"/>
              </a:ext>
            </a:extLst>
          </p:cNvPr>
          <p:cNvSpPr txBox="1"/>
          <p:nvPr/>
        </p:nvSpPr>
        <p:spPr>
          <a:xfrm>
            <a:off x="9990756" y="6657945"/>
            <a:ext cx="2201244" cy="200055"/>
          </a:xfrm>
          <a:prstGeom prst="rect">
            <a:avLst/>
          </a:prstGeom>
          <a:solidFill>
            <a:srgbClr val="000000"/>
          </a:solidFill>
        </p:spPr>
        <p:txBody>
          <a:bodyPr wrap="none">
            <a:spAutoFit/>
          </a:bodyPr>
          <a:lstStyle/>
          <a:p>
            <a:pPr algn="r">
              <a:spcAft>
                <a:spcPts val="600"/>
              </a:spcAft>
            </a:pPr>
            <a:r>
              <a:rPr lang="en-US" sz="700">
                <a:solidFill>
                  <a:srgbClr val="FFFFFF"/>
                </a:solidFill>
                <a:hlinkClick r:id="rId3">
                  <a:extLst>
                    <a:ext uri="{A12FA001-AC4F-418D-AE19-62706E023703}">
                      <ahyp:hlinkClr xmlns:ahyp="http://schemas.microsoft.com/office/drawing/2018/hyperlinkcolor" val="tx"/>
                    </a:ext>
                  </a:extLst>
                </a:hlinkClick>
              </a:rPr>
              <a:t>This Photo</a:t>
            </a:r>
            <a:r>
              <a:rPr lang="en-US" sz="700">
                <a:solidFill>
                  <a:srgbClr val="FFFFFF"/>
                </a:solidFill>
              </a:rPr>
              <a:t> by Unknown author is licensed under </a:t>
            </a:r>
            <a:r>
              <a:rPr lang="en-US" sz="700">
                <a:solidFill>
                  <a:srgbClr val="FFFFFF"/>
                </a:solidFill>
                <a:hlinkClick r:id="rId4">
                  <a:extLst>
                    <a:ext uri="{A12FA001-AC4F-418D-AE19-62706E023703}">
                      <ahyp:hlinkClr xmlns:ahyp="http://schemas.microsoft.com/office/drawing/2018/hyperlinkcolor" val="tx"/>
                    </a:ext>
                  </a:extLst>
                </a:hlinkClick>
              </a:rPr>
              <a:t>CC BY</a:t>
            </a:r>
            <a:r>
              <a:rPr lang="en-US" sz="700">
                <a:solidFill>
                  <a:srgbClr val="FFFFFF"/>
                </a:solidFill>
              </a:rPr>
              <a:t>.</a:t>
            </a:r>
          </a:p>
        </p:txBody>
      </p:sp>
    </p:spTree>
    <p:extLst>
      <p:ext uri="{BB962C8B-B14F-4D97-AF65-F5344CB8AC3E}">
        <p14:creationId xmlns:p14="http://schemas.microsoft.com/office/powerpoint/2010/main" val="12288730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F05A8-7D5C-F6AA-44C4-5ECB5886CD64}"/>
              </a:ext>
            </a:extLst>
          </p:cNvPr>
          <p:cNvSpPr>
            <a:spLocks noGrp="1"/>
          </p:cNvSpPr>
          <p:nvPr>
            <p:ph type="title"/>
          </p:nvPr>
        </p:nvSpPr>
        <p:spPr/>
        <p:txBody>
          <a:bodyPr>
            <a:normAutofit/>
          </a:bodyPr>
          <a:lstStyle/>
          <a:p>
            <a:r>
              <a:rPr lang="en-US" b="1" dirty="0">
                <a:latin typeface="Times New Roman"/>
                <a:cs typeface="Calibri Light"/>
              </a:rPr>
              <a:t>HARDWARE REQUIREMENTS</a:t>
            </a:r>
          </a:p>
        </p:txBody>
      </p:sp>
      <p:sp>
        <p:nvSpPr>
          <p:cNvPr id="3" name="Content Placeholder 2">
            <a:extLst>
              <a:ext uri="{FF2B5EF4-FFF2-40B4-BE49-F238E27FC236}">
                <a16:creationId xmlns:a16="http://schemas.microsoft.com/office/drawing/2014/main" id="{ECD45B66-3AB1-3154-C02A-07F01B1A897A}"/>
              </a:ext>
            </a:extLst>
          </p:cNvPr>
          <p:cNvSpPr>
            <a:spLocks noGrp="1"/>
          </p:cNvSpPr>
          <p:nvPr>
            <p:ph idx="1"/>
          </p:nvPr>
        </p:nvSpPr>
        <p:spPr>
          <a:xfrm>
            <a:off x="838200" y="1825625"/>
            <a:ext cx="7664982" cy="4351338"/>
          </a:xfrm>
        </p:spPr>
        <p:txBody>
          <a:bodyPr vert="horz" lIns="91440" tIns="45720" rIns="91440" bIns="45720" rtlCol="0" anchor="t">
            <a:normAutofit/>
          </a:bodyPr>
          <a:lstStyle/>
          <a:p>
            <a:pPr algn="just"/>
            <a:r>
              <a:rPr lang="en-US" sz="2500" dirty="0">
                <a:latin typeface="Times New Roman"/>
                <a:ea typeface="+mn-lt"/>
                <a:cs typeface="+mn-lt"/>
              </a:rPr>
              <a:t> Operating system : Windows, Linux</a:t>
            </a:r>
          </a:p>
          <a:p>
            <a:pPr algn="just"/>
            <a:r>
              <a:rPr lang="en-US" sz="2500" dirty="0">
                <a:latin typeface="Times New Roman"/>
                <a:ea typeface="+mn-lt"/>
                <a:cs typeface="+mn-lt"/>
              </a:rPr>
              <a:t>Processor               : minimum intel i3</a:t>
            </a:r>
          </a:p>
          <a:p>
            <a:pPr algn="just"/>
            <a:r>
              <a:rPr lang="en-US" sz="2500" dirty="0">
                <a:latin typeface="Times New Roman"/>
                <a:ea typeface="+mn-lt"/>
                <a:cs typeface="+mn-lt"/>
              </a:rPr>
              <a:t> Ram                      : minimum 4GB</a:t>
            </a:r>
          </a:p>
          <a:p>
            <a:pPr algn="just"/>
            <a:r>
              <a:rPr lang="en-US" sz="2500" dirty="0">
                <a:latin typeface="Times New Roman"/>
                <a:ea typeface="+mn-lt"/>
                <a:cs typeface="+mn-lt"/>
              </a:rPr>
              <a:t>Hard disk               : minimum 250GB</a:t>
            </a:r>
            <a:endParaRPr lang="en-US" dirty="0">
              <a:cs typeface="Calibri"/>
            </a:endParaRPr>
          </a:p>
        </p:txBody>
      </p:sp>
      <p:pic>
        <p:nvPicPr>
          <p:cNvPr id="4" name="Picture 4" descr="Kostenloses Foto: Tastatur, Computer, Hardware - Kostenloses Bild auf ...">
            <a:extLst>
              <a:ext uri="{FF2B5EF4-FFF2-40B4-BE49-F238E27FC236}">
                <a16:creationId xmlns:a16="http://schemas.microsoft.com/office/drawing/2014/main" id="{7F4E4245-A70C-54AB-37C6-C1E94548DAD6}"/>
              </a:ext>
            </a:extLst>
          </p:cNvPr>
          <p:cNvPicPr>
            <a:picLocks noChangeAspect="1"/>
          </p:cNvPicPr>
          <p:nvPr/>
        </p:nvPicPr>
        <p:blipFill rotWithShape="1">
          <a:blip r:embed="rId2"/>
          <a:srcRect l="14228" r="19021" b="-1"/>
          <a:stretch/>
        </p:blipFill>
        <p:spPr>
          <a:xfrm>
            <a:off x="8876124" y="1771078"/>
            <a:ext cx="2908995" cy="3268429"/>
          </a:xfrm>
          <a:custGeom>
            <a:avLst/>
            <a:gdLst/>
            <a:ahLst/>
            <a:cxnLst/>
            <a:rect l="l" t="t" r="r" b="b"/>
            <a:pathLst>
              <a:path w="2663168" h="2663168">
                <a:moveTo>
                  <a:pt x="1331584" y="0"/>
                </a:moveTo>
                <a:cubicBezTo>
                  <a:pt x="2066998" y="0"/>
                  <a:pt x="2663168" y="596170"/>
                  <a:pt x="2663168" y="1331584"/>
                </a:cubicBezTo>
                <a:cubicBezTo>
                  <a:pt x="2663168" y="2066998"/>
                  <a:pt x="2066998" y="2663168"/>
                  <a:pt x="1331584" y="2663168"/>
                </a:cubicBezTo>
                <a:cubicBezTo>
                  <a:pt x="596170" y="2663168"/>
                  <a:pt x="0" y="2066998"/>
                  <a:pt x="0" y="1331584"/>
                </a:cubicBezTo>
                <a:cubicBezTo>
                  <a:pt x="0" y="596170"/>
                  <a:pt x="596170" y="0"/>
                  <a:pt x="1331584" y="0"/>
                </a:cubicBezTo>
                <a:close/>
              </a:path>
            </a:pathLst>
          </a:custGeom>
        </p:spPr>
      </p:pic>
    </p:spTree>
    <p:extLst>
      <p:ext uri="{BB962C8B-B14F-4D97-AF65-F5344CB8AC3E}">
        <p14:creationId xmlns:p14="http://schemas.microsoft.com/office/powerpoint/2010/main" val="32566395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7C2022-B70D-75A0-D564-CD1B93D42D71}"/>
              </a:ext>
            </a:extLst>
          </p:cNvPr>
          <p:cNvSpPr>
            <a:spLocks noGrp="1"/>
          </p:cNvSpPr>
          <p:nvPr>
            <p:ph type="title"/>
          </p:nvPr>
        </p:nvSpPr>
        <p:spPr/>
        <p:txBody>
          <a:bodyPr>
            <a:normAutofit/>
          </a:bodyPr>
          <a:lstStyle/>
          <a:p>
            <a:r>
              <a:rPr lang="en-IN" sz="3600" b="1" dirty="0" err="1">
                <a:latin typeface="Cambria" panose="02040503050406030204" pitchFamily="18" charset="0"/>
                <a:ea typeface="Cambria" panose="02040503050406030204" pitchFamily="18" charset="0"/>
                <a:cs typeface="Times New Roman" panose="02020603050405020304" pitchFamily="18" charset="0"/>
              </a:rPr>
              <a:t>UseCase</a:t>
            </a:r>
            <a:r>
              <a:rPr lang="en-IN" sz="3600" b="1" dirty="0">
                <a:latin typeface="Cambria" panose="02040503050406030204" pitchFamily="18" charset="0"/>
                <a:ea typeface="Cambria" panose="02040503050406030204" pitchFamily="18" charset="0"/>
                <a:cs typeface="Times New Roman" panose="02020603050405020304" pitchFamily="18" charset="0"/>
              </a:rPr>
              <a:t> Diagram :</a:t>
            </a:r>
          </a:p>
        </p:txBody>
      </p:sp>
      <p:pic>
        <p:nvPicPr>
          <p:cNvPr id="3" name="Picture 2" descr="A diagram of a social media analysis process&#10;&#10;Description automatically generated">
            <a:extLst>
              <a:ext uri="{FF2B5EF4-FFF2-40B4-BE49-F238E27FC236}">
                <a16:creationId xmlns:a16="http://schemas.microsoft.com/office/drawing/2014/main" id="{2C99714D-B6B9-926B-D72B-9802CE52ED44}"/>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06086" y="1670180"/>
            <a:ext cx="10427971" cy="3993502"/>
          </a:xfrm>
          <a:prstGeom prst="rect">
            <a:avLst/>
          </a:prstGeom>
          <a:noFill/>
          <a:ln>
            <a:noFill/>
          </a:ln>
        </p:spPr>
      </p:pic>
    </p:spTree>
    <p:extLst>
      <p:ext uri="{BB962C8B-B14F-4D97-AF65-F5344CB8AC3E}">
        <p14:creationId xmlns:p14="http://schemas.microsoft.com/office/powerpoint/2010/main" val="11254037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E00A1B-9C37-3A10-AEBD-8959E213F4E7}"/>
              </a:ext>
            </a:extLst>
          </p:cNvPr>
          <p:cNvSpPr>
            <a:spLocks noGrp="1"/>
          </p:cNvSpPr>
          <p:nvPr>
            <p:ph type="title"/>
          </p:nvPr>
        </p:nvSpPr>
        <p:spPr>
          <a:xfrm>
            <a:off x="655319" y="606424"/>
            <a:ext cx="10881360" cy="615553"/>
          </a:xfrm>
        </p:spPr>
        <p:txBody>
          <a:bodyPr>
            <a:normAutofit fontScale="90000"/>
          </a:bodyPr>
          <a:lstStyle/>
          <a:p>
            <a:r>
              <a:rPr lang="en-IN" sz="4000" dirty="0"/>
              <a:t>Class Diagram :</a:t>
            </a:r>
          </a:p>
        </p:txBody>
      </p:sp>
      <p:pic>
        <p:nvPicPr>
          <p:cNvPr id="3" name="Picture 2" descr="A diagram of a computer&#10;&#10;Description automatically generated">
            <a:extLst>
              <a:ext uri="{FF2B5EF4-FFF2-40B4-BE49-F238E27FC236}">
                <a16:creationId xmlns:a16="http://schemas.microsoft.com/office/drawing/2014/main" id="{36996252-7880-EE37-6F7B-D3FD0523D9B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155018" y="0"/>
            <a:ext cx="4436851" cy="6251576"/>
          </a:xfrm>
          <a:prstGeom prst="rect">
            <a:avLst/>
          </a:prstGeom>
          <a:noFill/>
          <a:ln>
            <a:noFill/>
          </a:ln>
        </p:spPr>
      </p:pic>
    </p:spTree>
    <p:extLst>
      <p:ext uri="{BB962C8B-B14F-4D97-AF65-F5344CB8AC3E}">
        <p14:creationId xmlns:p14="http://schemas.microsoft.com/office/powerpoint/2010/main" val="3422238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A143EA-57AB-87F4-66CF-464191B280CA}"/>
              </a:ext>
            </a:extLst>
          </p:cNvPr>
          <p:cNvSpPr>
            <a:spLocks noGrp="1"/>
          </p:cNvSpPr>
          <p:nvPr>
            <p:ph type="title"/>
          </p:nvPr>
        </p:nvSpPr>
        <p:spPr>
          <a:xfrm>
            <a:off x="655319" y="606424"/>
            <a:ext cx="10881360" cy="615553"/>
          </a:xfrm>
        </p:spPr>
        <p:txBody>
          <a:bodyPr>
            <a:normAutofit fontScale="90000"/>
          </a:bodyPr>
          <a:lstStyle/>
          <a:p>
            <a:r>
              <a:rPr lang="en-IN" sz="4000" dirty="0"/>
              <a:t>Activity Diagram :</a:t>
            </a:r>
          </a:p>
        </p:txBody>
      </p:sp>
      <p:pic>
        <p:nvPicPr>
          <p:cNvPr id="3" name="Picture 2" descr="A diagram of a process flow&#10;&#10;Description automatically generated">
            <a:extLst>
              <a:ext uri="{FF2B5EF4-FFF2-40B4-BE49-F238E27FC236}">
                <a16:creationId xmlns:a16="http://schemas.microsoft.com/office/drawing/2014/main" id="{15023908-6224-01BA-8A1B-649765B1FC1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119695" y="0"/>
            <a:ext cx="4406859" cy="6251576"/>
          </a:xfrm>
          <a:prstGeom prst="rect">
            <a:avLst/>
          </a:prstGeom>
          <a:noFill/>
          <a:ln>
            <a:noFill/>
          </a:ln>
        </p:spPr>
      </p:pic>
    </p:spTree>
    <p:extLst>
      <p:ext uri="{BB962C8B-B14F-4D97-AF65-F5344CB8AC3E}">
        <p14:creationId xmlns:p14="http://schemas.microsoft.com/office/powerpoint/2010/main" val="25742259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04A10C-2FD2-83C6-F889-674413E96A2B}"/>
              </a:ext>
            </a:extLst>
          </p:cNvPr>
          <p:cNvSpPr>
            <a:spLocks noGrp="1"/>
          </p:cNvSpPr>
          <p:nvPr>
            <p:ph type="title"/>
          </p:nvPr>
        </p:nvSpPr>
        <p:spPr>
          <a:xfrm>
            <a:off x="655319" y="606424"/>
            <a:ext cx="10881360" cy="615553"/>
          </a:xfrm>
        </p:spPr>
        <p:txBody>
          <a:bodyPr>
            <a:normAutofit fontScale="90000"/>
          </a:bodyPr>
          <a:lstStyle/>
          <a:p>
            <a:r>
              <a:rPr lang="en-IN" sz="4000" dirty="0"/>
              <a:t>Dataflow Diagram :</a:t>
            </a:r>
          </a:p>
        </p:txBody>
      </p:sp>
      <p:pic>
        <p:nvPicPr>
          <p:cNvPr id="3" name="Picture 2" descr="A diagram of a model&#10;&#10;Description automatically generated">
            <a:extLst>
              <a:ext uri="{FF2B5EF4-FFF2-40B4-BE49-F238E27FC236}">
                <a16:creationId xmlns:a16="http://schemas.microsoft.com/office/drawing/2014/main" id="{E7FC7760-4D20-D529-751E-D01724AEDE0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09117" y="65315"/>
            <a:ext cx="3816221" cy="6186262"/>
          </a:xfrm>
          <a:prstGeom prst="rect">
            <a:avLst/>
          </a:prstGeom>
        </p:spPr>
      </p:pic>
    </p:spTree>
    <p:extLst>
      <p:ext uri="{BB962C8B-B14F-4D97-AF65-F5344CB8AC3E}">
        <p14:creationId xmlns:p14="http://schemas.microsoft.com/office/powerpoint/2010/main" val="11079331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DAF9A3-333E-1F69-DC89-CBA5EA084814}"/>
              </a:ext>
            </a:extLst>
          </p:cNvPr>
          <p:cNvSpPr>
            <a:spLocks noGrp="1"/>
          </p:cNvSpPr>
          <p:nvPr>
            <p:ph type="title"/>
          </p:nvPr>
        </p:nvSpPr>
        <p:spPr>
          <a:xfrm>
            <a:off x="655319" y="606424"/>
            <a:ext cx="10881360" cy="553998"/>
          </a:xfrm>
        </p:spPr>
        <p:txBody>
          <a:bodyPr>
            <a:normAutofit fontScale="90000"/>
          </a:bodyPr>
          <a:lstStyle/>
          <a:p>
            <a:r>
              <a:rPr lang="en-IN" sz="3600" dirty="0"/>
              <a:t>Sequence Diagram :</a:t>
            </a:r>
          </a:p>
        </p:txBody>
      </p:sp>
      <p:pic>
        <p:nvPicPr>
          <p:cNvPr id="3" name="Picture 2" descr="A diagram of a system&#10;&#10;Description automatically generated">
            <a:extLst>
              <a:ext uri="{FF2B5EF4-FFF2-40B4-BE49-F238E27FC236}">
                <a16:creationId xmlns:a16="http://schemas.microsoft.com/office/drawing/2014/main" id="{EC0745D7-6741-AF05-BFA1-253C8588A32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880201" y="137334"/>
            <a:ext cx="6858067" cy="6114242"/>
          </a:xfrm>
          <a:prstGeom prst="rect">
            <a:avLst/>
          </a:prstGeom>
          <a:noFill/>
          <a:ln>
            <a:noFill/>
          </a:ln>
        </p:spPr>
      </p:pic>
    </p:spTree>
    <p:extLst>
      <p:ext uri="{BB962C8B-B14F-4D97-AF65-F5344CB8AC3E}">
        <p14:creationId xmlns:p14="http://schemas.microsoft.com/office/powerpoint/2010/main" val="28643933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69190B-681E-6DC3-C648-11B46D63F066}"/>
              </a:ext>
            </a:extLst>
          </p:cNvPr>
          <p:cNvSpPr>
            <a:spLocks noGrp="1"/>
          </p:cNvSpPr>
          <p:nvPr>
            <p:ph type="title"/>
          </p:nvPr>
        </p:nvSpPr>
        <p:spPr/>
        <p:txBody>
          <a:bodyPr>
            <a:normAutofit/>
          </a:bodyPr>
          <a:lstStyle/>
          <a:p>
            <a:r>
              <a:rPr lang="en-IN" sz="4000" dirty="0">
                <a:solidFill>
                  <a:schemeClr val="tx1"/>
                </a:solidFill>
                <a:latin typeface="Arial Black" panose="020B0A04020102020204" pitchFamily="34" charset="0"/>
              </a:rPr>
              <a:t>SCREENSHOTS OF OUTPUT</a:t>
            </a:r>
          </a:p>
        </p:txBody>
      </p:sp>
      <p:pic>
        <p:nvPicPr>
          <p:cNvPr id="5" name="Content Placeholder 4">
            <a:extLst>
              <a:ext uri="{FF2B5EF4-FFF2-40B4-BE49-F238E27FC236}">
                <a16:creationId xmlns:a16="http://schemas.microsoft.com/office/drawing/2014/main" id="{C9620D90-61EC-1A11-3C57-F2F41BECE67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07938" y="1735494"/>
            <a:ext cx="9145189" cy="4777273"/>
          </a:xfrm>
        </p:spPr>
      </p:pic>
    </p:spTree>
    <p:extLst>
      <p:ext uri="{BB962C8B-B14F-4D97-AF65-F5344CB8AC3E}">
        <p14:creationId xmlns:p14="http://schemas.microsoft.com/office/powerpoint/2010/main" val="16993014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05D326-FD98-7D9E-0ABF-E8CB215FD514}"/>
              </a:ext>
            </a:extLst>
          </p:cNvPr>
          <p:cNvSpPr>
            <a:spLocks noGrp="1"/>
          </p:cNvSpPr>
          <p:nvPr>
            <p:ph type="title"/>
          </p:nvPr>
        </p:nvSpPr>
        <p:spPr/>
        <p:txBody>
          <a:bodyPr>
            <a:normAutofit/>
          </a:bodyPr>
          <a:lstStyle/>
          <a:p>
            <a:r>
              <a:rPr lang="en-IN" sz="4000" dirty="0"/>
              <a:t>Preprocess Dataset</a:t>
            </a:r>
          </a:p>
        </p:txBody>
      </p:sp>
      <p:pic>
        <p:nvPicPr>
          <p:cNvPr id="15" name="Content Placeholder 14">
            <a:extLst>
              <a:ext uri="{FF2B5EF4-FFF2-40B4-BE49-F238E27FC236}">
                <a16:creationId xmlns:a16="http://schemas.microsoft.com/office/drawing/2014/main" id="{5665C511-3E13-731A-3129-1D0BB9CE131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02432" y="1371600"/>
            <a:ext cx="8882743" cy="5150498"/>
          </a:xfrm>
        </p:spPr>
      </p:pic>
    </p:spTree>
    <p:extLst>
      <p:ext uri="{BB962C8B-B14F-4D97-AF65-F5344CB8AC3E}">
        <p14:creationId xmlns:p14="http://schemas.microsoft.com/office/powerpoint/2010/main" val="26631320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AA4E62-6695-A14F-5946-7563AF2951AB}"/>
              </a:ext>
            </a:extLst>
          </p:cNvPr>
          <p:cNvSpPr>
            <a:spLocks noGrp="1"/>
          </p:cNvSpPr>
          <p:nvPr>
            <p:ph type="title"/>
          </p:nvPr>
        </p:nvSpPr>
        <p:spPr/>
        <p:txBody>
          <a:bodyPr/>
          <a:lstStyle/>
          <a:p>
            <a:r>
              <a:rPr lang="en-IN" b="1" dirty="0">
                <a:solidFill>
                  <a:schemeClr val="accent5">
                    <a:lumMod val="75000"/>
                  </a:schemeClr>
                </a:solidFill>
                <a:latin typeface="Cooper Black" panose="0208090404030B020404" pitchFamily="18" charset="0"/>
              </a:rPr>
              <a:t>Navie Bayes Model</a:t>
            </a:r>
          </a:p>
        </p:txBody>
      </p:sp>
      <p:pic>
        <p:nvPicPr>
          <p:cNvPr id="5" name="Content Placeholder 4">
            <a:extLst>
              <a:ext uri="{FF2B5EF4-FFF2-40B4-BE49-F238E27FC236}">
                <a16:creationId xmlns:a16="http://schemas.microsoft.com/office/drawing/2014/main" id="{D9A93F23-3EEA-47E4-B9D1-551DB155B86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11763" y="1315616"/>
            <a:ext cx="9041363" cy="5253134"/>
          </a:xfrm>
        </p:spPr>
      </p:pic>
    </p:spTree>
    <p:extLst>
      <p:ext uri="{BB962C8B-B14F-4D97-AF65-F5344CB8AC3E}">
        <p14:creationId xmlns:p14="http://schemas.microsoft.com/office/powerpoint/2010/main" val="24876875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A98EB6-E7B7-8F77-3DA6-E71D0EA047DD}"/>
              </a:ext>
            </a:extLst>
          </p:cNvPr>
          <p:cNvSpPr>
            <a:spLocks noGrp="1"/>
          </p:cNvSpPr>
          <p:nvPr>
            <p:ph type="title"/>
          </p:nvPr>
        </p:nvSpPr>
        <p:spPr>
          <a:xfrm>
            <a:off x="774441" y="586856"/>
            <a:ext cx="3191069" cy="682108"/>
          </a:xfrm>
        </p:spPr>
        <p:txBody>
          <a:bodyPr vert="horz" lIns="91440" tIns="45720" rIns="91440" bIns="45720" rtlCol="0" anchor="b">
            <a:normAutofit fontScale="90000"/>
          </a:bodyPr>
          <a:lstStyle/>
          <a:p>
            <a:pPr algn="r"/>
            <a:r>
              <a:rPr lang="en-US" sz="4000" b="1" kern="1200" dirty="0">
                <a:solidFill>
                  <a:srgbClr val="C00000"/>
                </a:solidFill>
                <a:latin typeface="+mj-lt"/>
                <a:ea typeface="+mj-ea"/>
                <a:cs typeface="+mj-cs"/>
              </a:rPr>
              <a:t>REFERENCES:</a:t>
            </a:r>
          </a:p>
        </p:txBody>
      </p:sp>
      <p:sp>
        <p:nvSpPr>
          <p:cNvPr id="3" name="Content Placeholder 2">
            <a:extLst>
              <a:ext uri="{FF2B5EF4-FFF2-40B4-BE49-F238E27FC236}">
                <a16:creationId xmlns:a16="http://schemas.microsoft.com/office/drawing/2014/main" id="{BB0EC269-F231-6979-7C53-C024827FE796}"/>
              </a:ext>
            </a:extLst>
          </p:cNvPr>
          <p:cNvSpPr>
            <a:spLocks noGrp="1"/>
          </p:cNvSpPr>
          <p:nvPr>
            <p:ph idx="4294967295"/>
          </p:nvPr>
        </p:nvSpPr>
        <p:spPr>
          <a:xfrm>
            <a:off x="569167" y="1502228"/>
            <a:ext cx="10879495" cy="4843009"/>
          </a:xfrm>
        </p:spPr>
        <p:txBody>
          <a:bodyPr vert="horz" lIns="91440" tIns="45720" rIns="91440" bIns="45720" rtlCol="0" anchor="ctr">
            <a:noAutofit/>
          </a:bodyPr>
          <a:lstStyle/>
          <a:p>
            <a:r>
              <a:rPr lang="en-US" sz="2000" dirty="0"/>
              <a:t>[1] F. Abel, C. </a:t>
            </a:r>
            <a:r>
              <a:rPr lang="en-US" sz="2000" dirty="0" err="1"/>
              <a:t>Hauff</a:t>
            </a:r>
            <a:r>
              <a:rPr lang="en-US" sz="2000" dirty="0"/>
              <a:t>, G.-J. </a:t>
            </a:r>
            <a:r>
              <a:rPr lang="en-US" sz="2000" dirty="0" err="1"/>
              <a:t>Houben</a:t>
            </a:r>
            <a:r>
              <a:rPr lang="en-US" sz="2000" dirty="0"/>
              <a:t>, R. </a:t>
            </a:r>
            <a:r>
              <a:rPr lang="en-US" sz="2000" dirty="0" err="1"/>
              <a:t>Stronkman</a:t>
            </a:r>
            <a:r>
              <a:rPr lang="en-US" sz="2000" dirty="0"/>
              <a:t>, and K. Tao, “Semantics + Filtering + Search = </a:t>
            </a:r>
            <a:r>
              <a:rPr lang="en-US" sz="2000" dirty="0" err="1"/>
              <a:t>Twitcident</a:t>
            </a:r>
            <a:r>
              <a:rPr lang="en-US" sz="2000" dirty="0"/>
              <a:t>. Exploring Information in Social Web Streams,” in Proc. of the 23rd ACM Conf. on Hypertext and Social Media. ACM, 2012, pp. 285–294. </a:t>
            </a:r>
          </a:p>
          <a:p>
            <a:r>
              <a:rPr lang="en-US" sz="2000" dirty="0"/>
              <a:t>[2] U. Ahmad, A. Zahid, M. Shoaib, and A. </a:t>
            </a:r>
            <a:r>
              <a:rPr lang="en-US" sz="2000" dirty="0" err="1"/>
              <a:t>AlAmri</a:t>
            </a:r>
            <a:r>
              <a:rPr lang="en-US" sz="2000" dirty="0"/>
              <a:t>, “</a:t>
            </a:r>
            <a:r>
              <a:rPr lang="en-US" sz="2000" dirty="0" err="1"/>
              <a:t>Harvis</a:t>
            </a:r>
            <a:r>
              <a:rPr lang="en-US" sz="2000" dirty="0"/>
              <a:t>: An integrated social media content analysis framework for </a:t>
            </a:r>
            <a:r>
              <a:rPr lang="en-US" sz="2000" dirty="0" err="1"/>
              <a:t>youtube</a:t>
            </a:r>
            <a:r>
              <a:rPr lang="en-US" sz="2000" dirty="0"/>
              <a:t> platform,” Information Systems, vol. 69, pp. 25 – 39, 2017. </a:t>
            </a:r>
          </a:p>
          <a:p>
            <a:r>
              <a:rPr lang="en-US" sz="2000" dirty="0"/>
              <a:t>[3] G. </a:t>
            </a:r>
            <a:r>
              <a:rPr lang="en-US" sz="2000" dirty="0" err="1"/>
              <a:t>Backfried</a:t>
            </a:r>
            <a:r>
              <a:rPr lang="en-US" sz="2000" dirty="0"/>
              <a:t>, J. </a:t>
            </a:r>
            <a:r>
              <a:rPr lang="en-US" sz="2000" dirty="0" err="1"/>
              <a:t>Gollner</a:t>
            </a:r>
            <a:r>
              <a:rPr lang="en-US" sz="2000" dirty="0"/>
              <a:t>, G. </a:t>
            </a:r>
            <a:r>
              <a:rPr lang="en-US" sz="2000" dirty="0" err="1"/>
              <a:t>Qirchmayr</a:t>
            </a:r>
            <a:r>
              <a:rPr lang="en-US" sz="2000" dirty="0"/>
              <a:t>, K. Rainer, G. </a:t>
            </a:r>
            <a:r>
              <a:rPr lang="en-US" sz="2000" dirty="0" err="1"/>
              <a:t>Kienast</a:t>
            </a:r>
            <a:r>
              <a:rPr lang="en-US" sz="2000" dirty="0"/>
              <a:t>, G. </a:t>
            </a:r>
            <a:r>
              <a:rPr lang="en-US" sz="2000" dirty="0" err="1"/>
              <a:t>Thallinger</a:t>
            </a:r>
            <a:r>
              <a:rPr lang="en-US" sz="2000" dirty="0"/>
              <a:t>, C. Schmidt, and A. Peer, “Integration of Media Sources for Situation Analysis in the Different Phases of Disaster Management: The </a:t>
            </a:r>
            <a:r>
              <a:rPr lang="en-US" sz="2000" dirty="0" err="1"/>
              <a:t>QuOIMA</a:t>
            </a:r>
            <a:r>
              <a:rPr lang="en-US" sz="2000" dirty="0"/>
              <a:t> Project,” in Eur. Intel. and Security Informatics Conf., Aug 2013, pp. 143–146. </a:t>
            </a:r>
          </a:p>
          <a:p>
            <a:r>
              <a:rPr lang="en-US" sz="2000" dirty="0"/>
              <a:t>[4] BBC News Europe. (2012, Aug.) England Riots: Maps and Timeline. [Online]. Available: </a:t>
            </a:r>
            <a:r>
              <a:rPr lang="en-US" sz="2000" dirty="0">
                <a:hlinkClick r:id="rId2"/>
              </a:rPr>
              <a:t>http://www.bbc.co.uk/news/</a:t>
            </a:r>
            <a:r>
              <a:rPr lang="en-US" sz="2000" dirty="0"/>
              <a:t> uk-14436499</a:t>
            </a:r>
          </a:p>
          <a:p>
            <a:endParaRPr lang="en-US" sz="2000" dirty="0"/>
          </a:p>
        </p:txBody>
      </p:sp>
    </p:spTree>
    <p:extLst>
      <p:ext uri="{BB962C8B-B14F-4D97-AF65-F5344CB8AC3E}">
        <p14:creationId xmlns:p14="http://schemas.microsoft.com/office/powerpoint/2010/main" val="13183615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1A17E0-D6E5-6985-25F1-B31A4C94D36E}"/>
              </a:ext>
            </a:extLst>
          </p:cNvPr>
          <p:cNvSpPr>
            <a:spLocks noGrp="1"/>
          </p:cNvSpPr>
          <p:nvPr>
            <p:ph type="title"/>
          </p:nvPr>
        </p:nvSpPr>
        <p:spPr>
          <a:xfrm>
            <a:off x="655319" y="606424"/>
            <a:ext cx="10881360" cy="615553"/>
          </a:xfrm>
        </p:spPr>
        <p:txBody>
          <a:bodyPr>
            <a:normAutofit fontScale="90000"/>
          </a:bodyPr>
          <a:lstStyle/>
          <a:p>
            <a:r>
              <a:rPr lang="en-IN" sz="4000" dirty="0"/>
              <a:t>Future Scope :</a:t>
            </a:r>
          </a:p>
        </p:txBody>
      </p:sp>
      <p:sp>
        <p:nvSpPr>
          <p:cNvPr id="6" name="TextBox 5">
            <a:extLst>
              <a:ext uri="{FF2B5EF4-FFF2-40B4-BE49-F238E27FC236}">
                <a16:creationId xmlns:a16="http://schemas.microsoft.com/office/drawing/2014/main" id="{00171C2D-20C0-D229-039F-2A719D8EC95E}"/>
              </a:ext>
            </a:extLst>
          </p:cNvPr>
          <p:cNvSpPr txBox="1"/>
          <p:nvPr/>
        </p:nvSpPr>
        <p:spPr>
          <a:xfrm>
            <a:off x="655319" y="1573962"/>
            <a:ext cx="11073261" cy="3371885"/>
          </a:xfrm>
          <a:prstGeom prst="rect">
            <a:avLst/>
          </a:prstGeom>
          <a:noFill/>
        </p:spPr>
        <p:txBody>
          <a:bodyPr wrap="square">
            <a:spAutoFit/>
          </a:bodyPr>
          <a:lstStyle/>
          <a:p>
            <a:pPr algn="just">
              <a:lnSpc>
                <a:spcPct val="150000"/>
              </a:lnSpc>
              <a:spcAft>
                <a:spcPts val="800"/>
              </a:spcAft>
            </a:pP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The project's future scope includes expanding the model's capabilities to handle multilingual and multimedia content, enabling analysis of diverse social media data. Integration with real-time data sources and advanced sentiment analysis techniques could enhance the system's responsiveness and accuracy. Implementing deep learning architectures like recurrent neural networks (RNNs) or transformer models could capture complex contextual relationships in text, further improving location prediction accuracy. Moreover, incorporating geospatial visualization tools and interactive dashboards would enhance the project's usability, aiding decision-makers in understanding crisis patterns intuitively. Continuous updates and retraining the model with evolving social media trends ensure the system remains effective in capturing emerging crisis-related insights, making it a valuable tool for proactive crisis management in the future.</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7933441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89B887-4D00-A2A3-3D2A-312541BC0405}"/>
              </a:ext>
            </a:extLst>
          </p:cNvPr>
          <p:cNvSpPr>
            <a:spLocks noGrp="1"/>
          </p:cNvSpPr>
          <p:nvPr>
            <p:ph type="title"/>
          </p:nvPr>
        </p:nvSpPr>
        <p:spPr>
          <a:xfrm>
            <a:off x="655319" y="606424"/>
            <a:ext cx="10881360" cy="615553"/>
          </a:xfrm>
        </p:spPr>
        <p:txBody>
          <a:bodyPr>
            <a:normAutofit fontScale="90000"/>
          </a:bodyPr>
          <a:lstStyle/>
          <a:p>
            <a:r>
              <a:rPr lang="en-IN" sz="4000" dirty="0"/>
              <a:t>Conclusion :</a:t>
            </a:r>
          </a:p>
        </p:txBody>
      </p:sp>
      <p:sp>
        <p:nvSpPr>
          <p:cNvPr id="4" name="TextBox 3">
            <a:extLst>
              <a:ext uri="{FF2B5EF4-FFF2-40B4-BE49-F238E27FC236}">
                <a16:creationId xmlns:a16="http://schemas.microsoft.com/office/drawing/2014/main" id="{6E245AB5-FD1F-A9B1-2F62-BFFA54F3CA3B}"/>
              </a:ext>
            </a:extLst>
          </p:cNvPr>
          <p:cNvSpPr txBox="1"/>
          <p:nvPr/>
        </p:nvSpPr>
        <p:spPr>
          <a:xfrm>
            <a:off x="655319" y="1605002"/>
            <a:ext cx="9804297" cy="2956387"/>
          </a:xfrm>
          <a:prstGeom prst="rect">
            <a:avLst/>
          </a:prstGeom>
          <a:noFill/>
        </p:spPr>
        <p:txBody>
          <a:bodyPr wrap="square">
            <a:spAutoFit/>
          </a:bodyPr>
          <a:lstStyle/>
          <a:p>
            <a:pPr algn="just">
              <a:lnSpc>
                <a:spcPct val="150000"/>
              </a:lnSpc>
              <a:spcAft>
                <a:spcPts val="800"/>
              </a:spcAft>
            </a:pP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In conclusion, the Social Media Crisis Analytics project offers a robust solution for understanding patterns and trends within social media data, enabling timely decision-making during crises. By harnessing the power of natural language processing and machine learning techniques, the project successfully preprocesses and </a:t>
            </a:r>
            <a:r>
              <a:rPr lang="en-IN" sz="1800" kern="100" dirty="0" err="1">
                <a:effectLst/>
                <a:latin typeface="Times New Roman" panose="02020603050405020304" pitchFamily="18" charset="0"/>
                <a:ea typeface="Calibri" panose="020F0502020204030204" pitchFamily="34" charset="0"/>
                <a:cs typeface="Times New Roman" panose="02020603050405020304" pitchFamily="18" charset="0"/>
              </a:rPr>
              <a:t>analyzes</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 social media posts. The preprocessing step ensures that the textual data is cleaned, transformed, and optimized for analysis. Through TF-IDF vectorization, the project effectively converts the textual content into numerical features, facilitating the training of a Naive Bayes classifier.</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4025619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E306E7-951F-0641-5E24-EA7ECCC8C98B}"/>
              </a:ext>
            </a:extLst>
          </p:cNvPr>
          <p:cNvSpPr>
            <a:spLocks noGrp="1"/>
          </p:cNvSpPr>
          <p:nvPr>
            <p:ph type="title"/>
          </p:nvPr>
        </p:nvSpPr>
        <p:spPr>
          <a:xfrm>
            <a:off x="4039576" y="2061512"/>
            <a:ext cx="4926833" cy="3137541"/>
          </a:xfrm>
        </p:spPr>
        <p:txBody>
          <a:bodyPr vert="horz" lIns="91440" tIns="45720" rIns="91440" bIns="45720" rtlCol="0" anchor="ctr">
            <a:normAutofit/>
          </a:bodyPr>
          <a:lstStyle/>
          <a:p>
            <a:r>
              <a:rPr lang="en-US" sz="6000" b="1" kern="1200">
                <a:latin typeface="+mj-lt"/>
                <a:ea typeface="+mj-ea"/>
                <a:cs typeface="+mj-cs"/>
              </a:rPr>
              <a:t>THANK YOU</a:t>
            </a:r>
            <a:br>
              <a:rPr lang="en-US" sz="6000" b="1"/>
            </a:br>
            <a:r>
              <a:rPr lang="en-US" sz="2400" b="1">
                <a:cs typeface="Calibri Light"/>
              </a:rPr>
              <a:t>                                                   </a:t>
            </a:r>
            <a:br>
              <a:rPr lang="en-US" sz="2400" b="1">
                <a:cs typeface="Calibri Light"/>
              </a:rPr>
            </a:br>
            <a:br>
              <a:rPr lang="en-US" sz="2400" b="1">
                <a:cs typeface="Calibri Light"/>
              </a:rPr>
            </a:br>
            <a:r>
              <a:rPr lang="en-US" sz="2400" b="1">
                <a:cs typeface="Calibri Light"/>
              </a:rPr>
              <a:t>                                                 </a:t>
            </a:r>
            <a:r>
              <a:rPr lang="en-US" sz="3600" b="1">
                <a:cs typeface="Calibri Light"/>
              </a:rPr>
              <a:t>  A-14</a:t>
            </a:r>
            <a:endParaRPr lang="en-US" sz="3600" b="1" kern="1200">
              <a:latin typeface="+mj-lt"/>
              <a:cs typeface="Calibri Light"/>
            </a:endParaRPr>
          </a:p>
        </p:txBody>
      </p:sp>
    </p:spTree>
    <p:extLst>
      <p:ext uri="{BB962C8B-B14F-4D97-AF65-F5344CB8AC3E}">
        <p14:creationId xmlns:p14="http://schemas.microsoft.com/office/powerpoint/2010/main" val="1796281388"/>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64</TotalTime>
  <Words>1389</Words>
  <Application>Microsoft Office PowerPoint</Application>
  <PresentationFormat>Widescreen</PresentationFormat>
  <Paragraphs>83</Paragraphs>
  <Slides>21</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21</vt:i4>
      </vt:variant>
    </vt:vector>
  </HeadingPairs>
  <TitlesOfParts>
    <vt:vector size="31" baseType="lpstr">
      <vt:lpstr>Arial</vt:lpstr>
      <vt:lpstr>Arial Black</vt:lpstr>
      <vt:lpstr>Calibri</vt:lpstr>
      <vt:lpstr>Calibri Light</vt:lpstr>
      <vt:lpstr>Cambria</vt:lpstr>
      <vt:lpstr>Cooper Black</vt:lpstr>
      <vt:lpstr>Times New Roman</vt:lpstr>
      <vt:lpstr>Trebuchet MS</vt:lpstr>
      <vt:lpstr>Wingdings 3</vt:lpstr>
      <vt:lpstr>Facet</vt:lpstr>
      <vt:lpstr>PowerPoint Presentation</vt:lpstr>
      <vt:lpstr>ABSTRACT</vt:lpstr>
      <vt:lpstr>INTRODUCTION</vt:lpstr>
      <vt:lpstr>LITERATURE SURVEY</vt:lpstr>
      <vt:lpstr>EXISTING METHODOLOGY </vt:lpstr>
      <vt:lpstr>PROPOSED METHODOLGY</vt:lpstr>
      <vt:lpstr>ARCHITECTURE:</vt:lpstr>
      <vt:lpstr>SOFTWARE REQUIREMENT SPECIFICATIONS</vt:lpstr>
      <vt:lpstr>HARDWARE REQUIREMENTS</vt:lpstr>
      <vt:lpstr>UseCase Diagram :</vt:lpstr>
      <vt:lpstr>Class Diagram :</vt:lpstr>
      <vt:lpstr>Activity Diagram :</vt:lpstr>
      <vt:lpstr>Dataflow Diagram :</vt:lpstr>
      <vt:lpstr>Sequence Diagram :</vt:lpstr>
      <vt:lpstr>SCREENSHOTS OF OUTPUT</vt:lpstr>
      <vt:lpstr>Preprocess Dataset</vt:lpstr>
      <vt:lpstr>Navie Bayes Model</vt:lpstr>
      <vt:lpstr>REFERENCES:</vt:lpstr>
      <vt:lpstr>Future Scope :</vt:lpstr>
      <vt:lpstr>Conclusion :</vt:lpstr>
      <vt:lpstr>THANK YOU                                                                                                         A-14</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Vishal M</dc:creator>
  <cp:lastModifiedBy>Vishal M</cp:lastModifiedBy>
  <cp:revision>18</cp:revision>
  <dcterms:created xsi:type="dcterms:W3CDTF">2023-03-13T04:58:05Z</dcterms:created>
  <dcterms:modified xsi:type="dcterms:W3CDTF">2024-01-24T07:56:25Z</dcterms:modified>
</cp:coreProperties>
</file>